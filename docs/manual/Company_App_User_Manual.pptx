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ction" id="{9a5705b6-d7a0-b4fa-1528-47ff658c1712}">
          <p14:sldIdLst>
            <p14:sldId id="256"/>
            <p14:sldId id="257"/>
          </p14:sldIdLst>
        </p14:section>
        <p14:section name="Getting started" id="{c53683d7-70c3-f257-d505-2b4a699d56de}">
          <p14:sldIdLst>
            <p14:sldId id="258"/>
            <p14:sldId id="259"/>
            <p14:sldId id="260"/>
            <p14:sldId id="261"/>
            <p14:sldId id="262"/>
            <p14:sldId id="263"/>
            <p14:sldId id="264"/>
          </p14:sldIdLst>
        </p14:section>
        <p14:section name="Staff portal" id="{5c5e6a57-f9b3-8788-1eb1-b5775ea48205}">
          <p14:sldIdLst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  <p14:sldId id="273"/>
            <p14:sldId id="274"/>
          </p14:sldIdLst>
        </p14:section>
        <p14:section name="Admin Backoffice" id="{0476b0f5-4472-7a2d-d982-039f3ddad2a7}">
          <p14:sldIdLst>
            <p14:sldId id="275"/>
            <p14:sldId id="276"/>
            <p14:sldId id="277"/>
            <p14:sldId id="278"/>
            <p14:sldId id="279"/>
            <p14:sldId id="280"/>
          </p14:sldIdLst>
        </p14:section>
        <p14:section name="Reference" id="{f9d68f46-1a0c-a75f-ea90-ac02e4560ef2}">
          <p14:sldIdLst>
            <p14:sldId id="281"/>
            <p14:sldId id="282"/>
            <p14:sldId id="283"/>
          </p14:sldIdLst>
        </p14:section>
        <p14:section name="Close" id="{bd5f8d78-df86-1f20-9b24-9d696b6bde08}">
          <p14:sldIdLst>
            <p14:sldId id="284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manual reflects the application as of Phase 37B (web UI/UX improvement), including the addendum that added the Messages unread badge and sortable report columns. Phase 37B passed automated CI but its user acceptance testing (UAT-37B) had not yet been run when this deck was written.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mobile app is paused (decision DEC-067). The web portal is the primary way to use Company App on a phone.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a phone, the Backoffice sections are behind the Menu button. Items marked "Opens in the staff portal" (clients, projects, tasks, announcements) are managed from the portal screens.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40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6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3" name="Text 0"/>
          <p:cNvSpPr/>
          <p:nvPr/>
        </p:nvSpPr>
        <p:spPr>
          <a:xfrm>
            <a:off x="457200" y="4754880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Company App user manual</a:t>
            </a:r>
            <a:endParaRPr lang="en-US" sz="10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png"/><Relationship Id="rId6" Type="http://schemas.openxmlformats.org/officeDocument/2006/relationships/slideLayout" Target="../slideLayouts/slideLayout2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image" Target="../media/image-8-5.png"/><Relationship Id="rId6" Type="http://schemas.openxmlformats.org/officeDocument/2006/relationships/image" Target="../media/image-8-6.png"/><Relationship Id="rId7" Type="http://schemas.openxmlformats.org/officeDocument/2006/relationships/image" Target="../media/image-8-7.png"/><Relationship Id="rId8" Type="http://schemas.openxmlformats.org/officeDocument/2006/relationships/image" Target="../media/image-8-8.png"/><Relationship Id="rId9" Type="http://schemas.openxmlformats.org/officeDocument/2006/relationships/image" Target="../media/image-8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4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image" Target="../media/image-11-6.png"/><Relationship Id="rId7" Type="http://schemas.openxmlformats.org/officeDocument/2006/relationships/image" Target="../media/image-11-7.png"/><Relationship Id="rId8" Type="http://schemas.openxmlformats.org/officeDocument/2006/relationships/image" Target="../media/image-11-8.png"/><Relationship Id="rId9" Type="http://schemas.openxmlformats.org/officeDocument/2006/relationships/image" Target="../media/image-11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4-1.png"/><Relationship Id="rId2" Type="http://schemas.openxmlformats.org/officeDocument/2006/relationships/image" Target="../media/image-14-2.png"/><Relationship Id="rId3" Type="http://schemas.openxmlformats.org/officeDocument/2006/relationships/image" Target="../media/image-14-3.png"/><Relationship Id="rId4" Type="http://schemas.openxmlformats.org/officeDocument/2006/relationships/image" Target="../media/image-14-4.png"/><Relationship Id="rId5" Type="http://schemas.openxmlformats.org/officeDocument/2006/relationships/image" Target="../media/image-14-5.png"/><Relationship Id="rId6" Type="http://schemas.openxmlformats.org/officeDocument/2006/relationships/image" Target="../media/image-14-6.png"/><Relationship Id="rId7" Type="http://schemas.openxmlformats.org/officeDocument/2006/relationships/image" Target="../media/image-14-7.png"/><Relationship Id="rId8" Type="http://schemas.openxmlformats.org/officeDocument/2006/relationships/slideLayout" Target="../slideLayouts/slideLayout4.xml"/><Relationship Id="rId9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image" Target="../media/image-15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6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7-1.png"/><Relationship Id="rId2" Type="http://schemas.openxmlformats.org/officeDocument/2006/relationships/image" Target="../media/image-17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8-1.png"/><Relationship Id="rId2" Type="http://schemas.openxmlformats.org/officeDocument/2006/relationships/image" Target="../media/image-18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4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1-1.png"/><Relationship Id="rId2" Type="http://schemas.openxmlformats.org/officeDocument/2006/relationships/image" Target="../media/image-21-2.png"/><Relationship Id="rId3" Type="http://schemas.openxmlformats.org/officeDocument/2006/relationships/image" Target="../media/image-21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3-1.png"/><Relationship Id="rId2" Type="http://schemas.openxmlformats.org/officeDocument/2006/relationships/image" Target="../media/image-23-2.png"/><Relationship Id="rId3" Type="http://schemas.openxmlformats.org/officeDocument/2006/relationships/slideLayout" Target="../slideLayouts/slideLayout4.xml"/><Relationship Id="rId4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3" Type="http://schemas.openxmlformats.org/officeDocument/2006/relationships/image" Target="../media/image-24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slideLayout" Target="../slideLayouts/slideLayout4.xml"/><Relationship Id="rId5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8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9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Company App user manual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The staff portal and the Admin Backoffice, from sign-in to reports</a:t>
            </a:r>
            <a:endParaRPr lang="en-US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548640" y="42062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2"/>
                </a:solidFill>
              </a:rPr>
              <a:t>Version: October 2026</a:t>
            </a:r>
            <a:endParaRPr lang="en-US" sz="1200" dirty="0"/>
          </a:p>
        </p:txBody>
      </p:sp>
      <p:sp>
        <p:nvSpPr>
          <p:cNvPr id="5" name="Phone frame"/>
          <p:cNvSpPr/>
          <p:nvPr/>
        </p:nvSpPr>
        <p:spPr>
          <a:xfrm>
            <a:off x="6583680" y="502920"/>
            <a:ext cx="2103120" cy="4114800"/>
          </a:xfrm>
          <a:prstGeom prst="roundRect">
            <a:avLst>
              <a:gd name="adj" fmla="val 10870"/>
            </a:avLst>
          </a:prstGeom>
          <a:solidFill>
            <a:schemeClr val="tx1"/>
          </a:solidFill>
          <a:ln/>
        </p:spPr>
      </p:sp>
      <p:sp>
        <p:nvSpPr>
          <p:cNvPr id="6" name="Phone screen"/>
          <p:cNvSpPr/>
          <p:nvPr/>
        </p:nvSpPr>
        <p:spPr>
          <a:xfrm>
            <a:off x="6675120" y="667512"/>
            <a:ext cx="1920240" cy="3785616"/>
          </a:xfrm>
          <a:prstGeom prst="roundRect">
            <a:avLst>
              <a:gd name="adj" fmla="val 7143"/>
            </a:avLst>
          </a:prstGeom>
          <a:solidFill>
            <a:srgbClr val="FBF8FF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12280" y="850392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Hello, Maria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6812280" y="12161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00" b="1" dirty="0">
                <a:solidFill>
                  <a:schemeClr val="accent6"/>
                </a:solidFill>
              </a:rPr>
              <a:t>Needs attention</a:t>
            </a:r>
            <a:endParaRPr lang="en-US" sz="900" dirty="0"/>
          </a:p>
        </p:txBody>
      </p:sp>
      <p:sp>
        <p:nvSpPr>
          <p:cNvPr id="9" name="Card"/>
          <p:cNvSpPr/>
          <p:nvPr/>
        </p:nvSpPr>
        <p:spPr>
          <a:xfrm>
            <a:off x="6812280" y="1472184"/>
            <a:ext cx="16459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903720" y="149047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My tasks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7635240" y="149047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4 open</a:t>
            </a:r>
            <a:endParaRPr lang="en-US" sz="900" dirty="0"/>
          </a:p>
        </p:txBody>
      </p:sp>
      <p:sp>
        <p:nvSpPr>
          <p:cNvPr id="12" name="Card"/>
          <p:cNvSpPr/>
          <p:nvPr/>
        </p:nvSpPr>
        <p:spPr>
          <a:xfrm>
            <a:off x="6812280" y="1975104"/>
            <a:ext cx="16459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99339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Messages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7635240" y="199339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3 unread</a:t>
            </a:r>
            <a:endParaRPr lang="en-US" sz="900" dirty="0"/>
          </a:p>
        </p:txBody>
      </p:sp>
      <p:sp>
        <p:nvSpPr>
          <p:cNvPr id="15" name="Card"/>
          <p:cNvSpPr/>
          <p:nvPr/>
        </p:nvSpPr>
        <p:spPr>
          <a:xfrm>
            <a:off x="6812280" y="2478024"/>
            <a:ext cx="1645920" cy="411480"/>
          </a:xfrm>
          <a:prstGeom prst="roundRect">
            <a:avLst>
              <a:gd name="adj" fmla="val 17778"/>
            </a:avLst>
          </a:prstGeom>
          <a:solidFill>
            <a:schemeClr val="bg1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903720" y="2496312"/>
            <a:ext cx="1005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17" name="Text 15"/>
          <p:cNvSpPr txBox="1"/>
          <p:nvPr/>
        </p:nvSpPr>
        <p:spPr>
          <a:xfrm>
            <a:off x="7635240" y="2496312"/>
            <a:ext cx="777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accent1"/>
                </a:solidFill>
              </a:rPr>
              <a:t>2 unread</a:t>
            </a:r>
            <a:endParaRPr lang="en-US" sz="900" dirty="0"/>
          </a:p>
        </p:txBody>
      </p:sp>
      <p:sp>
        <p:nvSpPr>
          <p:cNvPr id="18" name="Tab bar divider"/>
          <p:cNvSpPr/>
          <p:nvPr/>
        </p:nvSpPr>
        <p:spPr>
          <a:xfrm>
            <a:off x="6675120" y="3995928"/>
            <a:ext cx="1920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pic>
        <p:nvPicPr>
          <p:cNvPr id="19" name="Image 0" descr="Home 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75704" y="4050792"/>
            <a:ext cx="182880" cy="182880"/>
          </a:xfrm>
          <a:prstGeom prst="rect">
            <a:avLst/>
          </a:prstGeom>
        </p:spPr>
      </p:pic>
      <p:sp>
        <p:nvSpPr>
          <p:cNvPr id="20" name="Text 17"/>
          <p:cNvSpPr txBox="1"/>
          <p:nvPr/>
        </p:nvSpPr>
        <p:spPr>
          <a:xfrm>
            <a:off x="6675120" y="4251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1"/>
                </a:solidFill>
              </a:rPr>
              <a:t>Home</a:t>
            </a:r>
            <a:endParaRPr lang="en-US" sz="700" dirty="0"/>
          </a:p>
        </p:txBody>
      </p:sp>
      <p:pic>
        <p:nvPicPr>
          <p:cNvPr id="21" name="Image 1" descr="Tasks t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59752" y="4050792"/>
            <a:ext cx="182880" cy="182880"/>
          </a:xfrm>
          <a:prstGeom prst="rect">
            <a:avLst/>
          </a:prstGeom>
        </p:spPr>
      </p:pic>
      <p:sp>
        <p:nvSpPr>
          <p:cNvPr id="22" name="Text 18"/>
          <p:cNvSpPr txBox="1"/>
          <p:nvPr/>
        </p:nvSpPr>
        <p:spPr>
          <a:xfrm>
            <a:off x="7059168" y="4251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Tasks</a:t>
            </a:r>
            <a:endParaRPr lang="en-US" sz="700" dirty="0"/>
          </a:p>
        </p:txBody>
      </p:sp>
      <p:pic>
        <p:nvPicPr>
          <p:cNvPr id="23" name="Image 2" descr="Messages ta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27848" y="4050792"/>
            <a:ext cx="182880" cy="182880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7827264" y="4251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Messages</a:t>
            </a:r>
            <a:endParaRPr lang="en-US" sz="700" dirty="0"/>
          </a:p>
        </p:txBody>
      </p:sp>
      <p:sp>
        <p:nvSpPr>
          <p:cNvPr id="25" name="Unread badge"/>
          <p:cNvSpPr/>
          <p:nvPr/>
        </p:nvSpPr>
        <p:spPr>
          <a:xfrm>
            <a:off x="8055864" y="401421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6" name="Text 21"/>
          <p:cNvSpPr txBox="1"/>
          <p:nvPr/>
        </p:nvSpPr>
        <p:spPr>
          <a:xfrm>
            <a:off x="8055864" y="401421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</a:rPr>
              <a:t>3</a:t>
            </a:r>
            <a:endParaRPr lang="en-US" sz="700" dirty="0"/>
          </a:p>
        </p:txBody>
      </p:sp>
      <p:pic>
        <p:nvPicPr>
          <p:cNvPr id="27" name="Image 3" descr="Schedule ta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43800" y="4050792"/>
            <a:ext cx="182880" cy="182880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7443216" y="4251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Schedule</a:t>
            </a:r>
            <a:endParaRPr lang="en-US" sz="700" dirty="0"/>
          </a:p>
        </p:txBody>
      </p:sp>
      <p:pic>
        <p:nvPicPr>
          <p:cNvPr id="29" name="Image 4" descr="More ta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11896" y="4050792"/>
            <a:ext cx="182880" cy="182880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8211312" y="425196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More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What this manual covers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4" name="Icon tile MdRocketLaunch"/>
          <p:cNvSpPr/>
          <p:nvPr/>
        </p:nvSpPr>
        <p:spPr>
          <a:xfrm>
            <a:off x="640080" y="128016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RocketLaunch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7068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1  Getting started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Roles, where to sign in, passwords and finding your way around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09728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9" name="Icon tile MdBadge"/>
          <p:cNvSpPr/>
          <p:nvPr/>
        </p:nvSpPr>
        <p:spPr>
          <a:xfrm>
            <a:off x="4846320" y="128016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Badg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46" y="137068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28016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2  Staff portal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82880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Home, tasks, schedule, messages, leave, work logs, reports and more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4" name="Icon tile MdAdminPanelSettings"/>
          <p:cNvSpPr/>
          <p:nvPr/>
        </p:nvSpPr>
        <p:spPr>
          <a:xfrm>
            <a:off x="640080" y="297180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5" name="Image 2" descr="AdminPanelSetting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3062326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3  Admin Backoffice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20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Dashboard, people, HR, work, operations, reports and administration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788920"/>
            <a:ext cx="4023360" cy="1463040"/>
          </a:xfrm>
          <a:prstGeom prst="roundRect">
            <a:avLst>
              <a:gd name="adj" fmla="val 5000"/>
            </a:avLst>
          </a:prstGeom>
          <a:solidFill>
            <a:schemeClr val="bg2"/>
          </a:solidFill>
          <a:ln/>
        </p:spPr>
      </p:sp>
      <p:sp>
        <p:nvSpPr>
          <p:cNvPr id="19" name="Icon tile MdMenuBook"/>
          <p:cNvSpPr/>
          <p:nvPr/>
        </p:nvSpPr>
        <p:spPr>
          <a:xfrm>
            <a:off x="4846320" y="297180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0" name="Image 3" descr="MenuBook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846" y="3062326"/>
            <a:ext cx="230429" cy="23042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4  Reference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520440"/>
            <a:ext cx="365760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Limits, rules, what isn't available yet and where to get help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Getting started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Who can do what, where you sign in, and how to move around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Three roles decide what you can see and do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4" name="Icon tile MdShield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Shield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Administrator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Every permission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only role that can open the Admin Backoffice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Sees every schedule entry, report, incident and the Audit log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05156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9" name="Icon tile MdSupervisorAccount"/>
          <p:cNvSpPr/>
          <p:nvPr/>
        </p:nvSpPr>
        <p:spPr>
          <a:xfrm>
            <a:off x="342900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SupervisorAccou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32496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Manager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7830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Views organisation, staff, clients, projects and tasks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Sees check-ins, work logs and leave of direct reports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Approves or rejects direct reports' leave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051560"/>
            <a:ext cx="2651760" cy="2606040"/>
          </a:xfrm>
          <a:prstGeom prst="roundRect">
            <a:avLst>
              <a:gd name="adj" fmla="val 2807"/>
            </a:avLst>
          </a:prstGeom>
          <a:solidFill>
            <a:schemeClr val="bg2"/>
          </a:solidFill>
          <a:ln/>
        </p:spPr>
      </p:sp>
      <p:sp>
        <p:nvSpPr>
          <p:cNvPr id="14" name="Icon tile MdPerson"/>
          <p:cNvSpPr/>
          <p:nvPr/>
        </p:nvSpPr>
        <p:spPr>
          <a:xfrm>
            <a:off x="62179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5" name="Image 2" descr="Perso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1324966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Staff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783080"/>
            <a:ext cx="22860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Views the organisation, staff directory and clients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Sees own tasks, own projects and announcements addressed to them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Manages own work logs, leave and status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3840480"/>
            <a:ext cx="8229600" cy="685800"/>
          </a:xfrm>
          <a:prstGeom prst="roundRect">
            <a:avLst>
              <a:gd name="adj" fmla="val 10667"/>
            </a:avLst>
          </a:prstGeom>
          <a:solidFill>
            <a:schemeClr val="accent2"/>
          </a:solidFill>
          <a:ln/>
        </p:spPr>
      </p:sp>
      <p:sp>
        <p:nvSpPr>
          <p:cNvPr id="19" name="Text 14"/>
          <p:cNvSpPr txBox="1"/>
          <p:nvPr/>
        </p:nvSpPr>
        <p:spPr>
          <a:xfrm>
            <a:off x="640080" y="3886200"/>
            <a:ext cx="7863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Always true: </a:t>
            </a:r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a project lead can add and edit their project's tasks and milestones, and an assignee can always change their task's status. Administrators can grant more rights on Roles &amp; permissions.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Where you work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Icon tile MdDevices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Device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Staff portal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21488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 everyone; you land here after signing in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Works in a phone browser or on a computer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Bottom tab bar on phones, sidebar on wider screens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Can be added to your home screen</a:t>
            </a:r>
            <a:endParaRPr lang="en-US" sz="1400" dirty="0"/>
          </a:p>
        </p:txBody>
      </p:sp>
      <p:sp>
        <p:nvSpPr>
          <p:cNvPr id="8" name="Chip /app"/>
          <p:cNvSpPr/>
          <p:nvPr/>
        </p:nvSpPr>
        <p:spPr>
          <a:xfrm>
            <a:off x="640080" y="173736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/app</a:t>
            </a:r>
            <a:endParaRPr lang="en-US" sz="1100" dirty="0"/>
          </a:p>
        </p:txBody>
      </p:sp>
      <p:sp>
        <p:nvSpPr>
          <p:cNvPr id="10" name="Card"/>
          <p:cNvSpPr/>
          <p:nvPr/>
        </p:nvSpPr>
        <p:spPr>
          <a:xfrm>
            <a:off x="3246120" y="105156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1" name="Icon tile MdAdminPanelSettings"/>
          <p:cNvSpPr/>
          <p:nvPr/>
        </p:nvSpPr>
        <p:spPr>
          <a:xfrm>
            <a:off x="342900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2" name="Image 1" descr="AdminPanelSetting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324966"/>
            <a:ext cx="230429" cy="230429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9776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Admin Backoffice</a:t>
            </a:r>
            <a:endParaRPr lang="en-US" sz="1600" dirty="0"/>
          </a:p>
        </p:txBody>
      </p:sp>
      <p:sp>
        <p:nvSpPr>
          <p:cNvPr id="14" name="Text 10"/>
          <p:cNvSpPr txBox="1"/>
          <p:nvPr/>
        </p:nvSpPr>
        <p:spPr>
          <a:xfrm>
            <a:off x="3429000" y="21488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Administrators only; others see "You can't open this page"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it with Admin in the portal sidebar or on More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Return with Staff portal</a:t>
            </a:r>
            <a:endParaRPr lang="en-US" sz="1400" dirty="0"/>
          </a:p>
        </p:txBody>
      </p:sp>
      <p:sp>
        <p:nvSpPr>
          <p:cNvPr id="15" name="Chip /admin"/>
          <p:cNvSpPr/>
          <p:nvPr/>
        </p:nvSpPr>
        <p:spPr>
          <a:xfrm>
            <a:off x="3429000" y="173736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3429000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/admin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6035040" y="1051560"/>
            <a:ext cx="2651760" cy="347472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8" name="Icon tile MdPhoneAndroid"/>
          <p:cNvSpPr/>
          <p:nvPr/>
        </p:nvSpPr>
        <p:spPr>
          <a:xfrm>
            <a:off x="62179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9" name="Image 2" descr="PhoneAndroi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1324966"/>
            <a:ext cx="230429" cy="230429"/>
          </a:xfrm>
          <a:prstGeom prst="rect">
            <a:avLst/>
          </a:prstGeom>
        </p:spPr>
      </p:pic>
      <p:sp>
        <p:nvSpPr>
          <p:cNvPr id="20" name="Text 15"/>
          <p:cNvSpPr txBox="1"/>
          <p:nvPr/>
        </p:nvSpPr>
        <p:spPr>
          <a:xfrm>
            <a:off x="67665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Android app</a:t>
            </a:r>
            <a:endParaRPr lang="en-US" sz="1600" dirty="0"/>
          </a:p>
        </p:txBody>
      </p:sp>
      <p:sp>
        <p:nvSpPr>
          <p:cNvPr id="21" name="Text 16"/>
          <p:cNvSpPr txBox="1"/>
          <p:nvPr/>
        </p:nvSpPr>
        <p:spPr>
          <a:xfrm>
            <a:off x="6217920" y="2148840"/>
            <a:ext cx="228600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Same five tabs, read and self-service only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Location Check in and taking report photos happen here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 add, edit or delete screens</a:t>
            </a:r>
            <a:endParaRPr lang="en-US" sz="1400" dirty="0"/>
          </a:p>
        </p:txBody>
      </p:sp>
      <p:sp>
        <p:nvSpPr>
          <p:cNvPr id="22" name="Chip Paused"/>
          <p:cNvSpPr/>
          <p:nvPr/>
        </p:nvSpPr>
        <p:spPr>
          <a:xfrm>
            <a:off x="6217920" y="1737360"/>
            <a:ext cx="1005840" cy="256032"/>
          </a:xfrm>
          <a:prstGeom prst="roundRect">
            <a:avLst>
              <a:gd name="adj" fmla="val 50000"/>
            </a:avLst>
          </a:prstGeom>
          <a:solidFill>
            <a:srgbClr val="FFDEA6"/>
          </a:solidFill>
          <a:ln/>
        </p:spPr>
      </p:sp>
      <p:sp>
        <p:nvSpPr>
          <p:cNvPr id="23" name="Text 18"/>
          <p:cNvSpPr txBox="1"/>
          <p:nvPr/>
        </p:nvSpPr>
        <p:spPr>
          <a:xfrm>
            <a:off x="6217920" y="173736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Paused</a:t>
            </a:r>
            <a:endParaRPr lang="en-US" sz="11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Signing in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4" name="Step number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Go to /login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 the sign-in page. Enter your work Email and Password. Use Show to check what you typed.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2240280" y="10515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Step number"/>
          <p:cNvSpPr/>
          <p:nvPr/>
        </p:nvSpPr>
        <p:spPr>
          <a:xfrm>
            <a:off x="237744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37744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37744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Choose how long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377440" y="196596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Tick "Keep me signed in on this device" for 30 days. Leave it off on a shared device.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023360" y="1051560"/>
            <a:ext cx="1554480" cy="233172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14" name="Step number"/>
          <p:cNvSpPr/>
          <p:nvPr/>
        </p:nvSpPr>
        <p:spPr>
          <a:xfrm>
            <a:off x="416052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16052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160520" y="1645920"/>
            <a:ext cx="12801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Select Sign in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160520" y="1965960"/>
            <a:ext cx="1280160" cy="1325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button shows "Signing in…". You return to the page you were on, or to Home.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57200" y="3566160"/>
            <a:ext cx="5120640" cy="1005840"/>
          </a:xfrm>
          <a:prstGeom prst="roundRect">
            <a:avLst>
              <a:gd name="adj" fmla="val 7273"/>
            </a:avLst>
          </a:prstGeom>
          <a:solidFill>
            <a:schemeClr val="accent2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40080" y="3639312"/>
            <a:ext cx="48463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Wrong details?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You'll see "These credentials do not match our records."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Too many tries?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After 5 attempts in a minute, wait the seconds shown.</a:t>
            </a:r>
            <a:endParaRPr lang="en-US" sz="1200" dirty="0"/>
          </a:p>
          <a:p>
            <a:pPr indent="0" marL="0">
              <a:spcAft>
                <a:spcPts val="200"/>
              </a:spcAft>
              <a:buNone/>
            </a:pPr>
            <a:r>
              <a:rPr lang="en-US" sz="1200" b="1" dirty="0">
                <a:solidFill>
                  <a:schemeClr val="tx1"/>
                </a:solidFill>
              </a:rPr>
              <a:t>Idle for 2 hours? </a:t>
            </a:r>
            <a:pPr indent="0" marL="0">
              <a:spcAft>
                <a:spcPts val="200"/>
              </a:spcAft>
              <a:buNone/>
            </a:pPr>
            <a:r>
              <a:rPr lang="en-US" sz="1200" dirty="0">
                <a:solidFill>
                  <a:schemeClr val="tx1"/>
                </a:solidFill>
              </a:rPr>
              <a:t>Without "Keep me signed in", you'll be asked to sign in again.</a:t>
            </a:r>
            <a:endParaRPr lang="en-US" sz="1200" dirty="0"/>
          </a:p>
        </p:txBody>
      </p:sp>
      <p:sp>
        <p:nvSpPr>
          <p:cNvPr id="20" name="Card"/>
          <p:cNvSpPr/>
          <p:nvPr/>
        </p:nvSpPr>
        <p:spPr>
          <a:xfrm>
            <a:off x="5852160" y="1051560"/>
            <a:ext cx="2834640" cy="3520440"/>
          </a:xfrm>
          <a:prstGeom prst="roundRect">
            <a:avLst>
              <a:gd name="adj" fmla="val 2581"/>
            </a:avLst>
          </a:prstGeom>
          <a:solidFill>
            <a:schemeClr val="bg2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035040" y="1188720"/>
            <a:ext cx="24688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Sign in to Company App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035040" y="16002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Email</a:t>
            </a:r>
            <a:endParaRPr lang="en-US" sz="1000" dirty="0"/>
          </a:p>
        </p:txBody>
      </p:sp>
      <p:sp>
        <p:nvSpPr>
          <p:cNvPr id="23" name="Field Email"/>
          <p:cNvSpPr/>
          <p:nvPr/>
        </p:nvSpPr>
        <p:spPr>
          <a:xfrm>
            <a:off x="6035040" y="1828800"/>
            <a:ext cx="246888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rgbClr val="76768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26480" y="18288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maria@company.test</a:t>
            </a:r>
            <a:endParaRPr lang="en-US" sz="1000" dirty="0"/>
          </a:p>
        </p:txBody>
      </p:sp>
      <p:sp>
        <p:nvSpPr>
          <p:cNvPr id="25" name="Text 23"/>
          <p:cNvSpPr txBox="1"/>
          <p:nvPr/>
        </p:nvSpPr>
        <p:spPr>
          <a:xfrm>
            <a:off x="6035040" y="2286000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Password</a:t>
            </a:r>
            <a:endParaRPr lang="en-US" sz="1000" dirty="0"/>
          </a:p>
        </p:txBody>
      </p:sp>
      <p:sp>
        <p:nvSpPr>
          <p:cNvPr id="26" name="Field Password"/>
          <p:cNvSpPr/>
          <p:nvPr/>
        </p:nvSpPr>
        <p:spPr>
          <a:xfrm>
            <a:off x="6035040" y="2514600"/>
            <a:ext cx="2468880" cy="347472"/>
          </a:xfrm>
          <a:prstGeom prst="roundRect">
            <a:avLst>
              <a:gd name="adj" fmla="val 15789"/>
            </a:avLst>
          </a:prstGeom>
          <a:solidFill>
            <a:schemeClr val="bg1"/>
          </a:solidFill>
          <a:ln w="12700">
            <a:solidFill>
              <a:srgbClr val="767680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6126480" y="2514600"/>
            <a:ext cx="1828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accent6"/>
                </a:solidFill>
              </a:rPr>
              <a:t>••••••••••••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8001000" y="2514600"/>
            <a:ext cx="457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Show</a:t>
            </a:r>
            <a:endParaRPr lang="en-US" sz="1000" dirty="0"/>
          </a:p>
        </p:txBody>
      </p:sp>
      <p:sp>
        <p:nvSpPr>
          <p:cNvPr id="29" name="Checkbox"/>
          <p:cNvSpPr/>
          <p:nvPr/>
        </p:nvSpPr>
        <p:spPr>
          <a:xfrm>
            <a:off x="6035040" y="3017520"/>
            <a:ext cx="164592" cy="164592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309360" y="2980944"/>
            <a:ext cx="2286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Keep me signed in on this device</a:t>
            </a:r>
            <a:endParaRPr lang="en-US" sz="1000" dirty="0"/>
          </a:p>
        </p:txBody>
      </p:sp>
      <p:sp>
        <p:nvSpPr>
          <p:cNvPr id="31" name="Sign in button"/>
          <p:cNvSpPr/>
          <p:nvPr/>
        </p:nvSpPr>
        <p:spPr>
          <a:xfrm>
            <a:off x="6035040" y="3474720"/>
            <a:ext cx="2468880" cy="384048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035040" y="3474720"/>
            <a:ext cx="24688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Sign in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Your password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Icon tile MdKey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Ke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First sign-in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 Administrator creates your account and gives you a temporary password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Sign in, then complete Choose your password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Enter the temporary password and your new one twice, then Set password and continue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Icon tile MdLockReset"/>
          <p:cNvSpPr/>
          <p:nvPr/>
        </p:nvSpPr>
        <p:spPr>
          <a:xfrm>
            <a:off x="342900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LockRese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32496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Change it any time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More → My profile → Change password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Enter your current password and the new one twice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Your other sessions, including the phone app, are signed out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4" name="Icon tile MdRule"/>
          <p:cNvSpPr/>
          <p:nvPr/>
        </p:nvSpPr>
        <p:spPr>
          <a:xfrm>
            <a:off x="62179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5" name="Image 2" descr="Rule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1324966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Password rules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At least 12 characters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your email address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Not your current password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Forgot it? There's no self-service reset. Ask an Administrator to use Reset password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Finding your way around the portal</a:t>
            </a:r>
            <a:endParaRPr lang="en-US" sz="2800" dirty="0"/>
          </a:p>
        </p:txBody>
      </p:sp>
      <p:sp>
        <p:nvSpPr>
          <p:cNvPr id="3" name="Phone frame"/>
          <p:cNvSpPr/>
          <p:nvPr/>
        </p:nvSpPr>
        <p:spPr>
          <a:xfrm>
            <a:off x="548640" y="868680"/>
            <a:ext cx="2103120" cy="3794760"/>
          </a:xfrm>
          <a:prstGeom prst="roundRect">
            <a:avLst>
              <a:gd name="adj" fmla="val 10870"/>
            </a:avLst>
          </a:prstGeom>
          <a:solidFill>
            <a:schemeClr val="tx1"/>
          </a:solidFill>
          <a:ln/>
        </p:spPr>
      </p:sp>
      <p:sp>
        <p:nvSpPr>
          <p:cNvPr id="4" name="Phone screen"/>
          <p:cNvSpPr/>
          <p:nvPr/>
        </p:nvSpPr>
        <p:spPr>
          <a:xfrm>
            <a:off x="640080" y="1033272"/>
            <a:ext cx="1920240" cy="3465576"/>
          </a:xfrm>
          <a:prstGeom prst="roundRect">
            <a:avLst>
              <a:gd name="adj" fmla="val 7143"/>
            </a:avLst>
          </a:prstGeom>
          <a:solidFill>
            <a:srgbClr val="F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14300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More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147218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My profile</a:t>
            </a:r>
            <a:endParaRPr lang="en-US" sz="900" dirty="0"/>
          </a:p>
        </p:txBody>
      </p:sp>
      <p:sp>
        <p:nvSpPr>
          <p:cNvPr id="7" name="Row divider"/>
          <p:cNvSpPr/>
          <p:nvPr/>
        </p:nvSpPr>
        <p:spPr>
          <a:xfrm>
            <a:off x="822960" y="1700784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22960" y="171907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My status</a:t>
            </a:r>
            <a:endParaRPr lang="en-US" sz="900" dirty="0"/>
          </a:p>
        </p:txBody>
      </p:sp>
      <p:sp>
        <p:nvSpPr>
          <p:cNvPr id="9" name="Row divider"/>
          <p:cNvSpPr/>
          <p:nvPr/>
        </p:nvSpPr>
        <p:spPr>
          <a:xfrm>
            <a:off x="822960" y="1947672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22960" y="196596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Announcements</a:t>
            </a:r>
            <a:endParaRPr lang="en-US" sz="900" dirty="0"/>
          </a:p>
        </p:txBody>
      </p:sp>
      <p:sp>
        <p:nvSpPr>
          <p:cNvPr id="11" name="Row divider"/>
          <p:cNvSpPr/>
          <p:nvPr/>
        </p:nvSpPr>
        <p:spPr>
          <a:xfrm>
            <a:off x="822960" y="2194560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221284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Notifications</a:t>
            </a:r>
            <a:endParaRPr lang="en-US" sz="900" dirty="0"/>
          </a:p>
        </p:txBody>
      </p:sp>
      <p:sp>
        <p:nvSpPr>
          <p:cNvPr id="13" name="Row divider"/>
          <p:cNvSpPr/>
          <p:nvPr/>
        </p:nvSpPr>
        <p:spPr>
          <a:xfrm>
            <a:off x="822960" y="2441448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822960" y="245973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Reports</a:t>
            </a:r>
            <a:endParaRPr lang="en-US" sz="900" dirty="0"/>
          </a:p>
        </p:txBody>
      </p:sp>
      <p:sp>
        <p:nvSpPr>
          <p:cNvPr id="15" name="Row divider"/>
          <p:cNvSpPr/>
          <p:nvPr/>
        </p:nvSpPr>
        <p:spPr>
          <a:xfrm>
            <a:off x="822960" y="2688336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2960" y="2706624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Leave</a:t>
            </a:r>
            <a:endParaRPr lang="en-US" sz="900" dirty="0"/>
          </a:p>
        </p:txBody>
      </p:sp>
      <p:sp>
        <p:nvSpPr>
          <p:cNvPr id="17" name="Row divider"/>
          <p:cNvSpPr/>
          <p:nvPr/>
        </p:nvSpPr>
        <p:spPr>
          <a:xfrm>
            <a:off x="822960" y="2935224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822960" y="2953512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Staff directory</a:t>
            </a:r>
            <a:endParaRPr lang="en-US" sz="900" dirty="0"/>
          </a:p>
        </p:txBody>
      </p:sp>
      <p:sp>
        <p:nvSpPr>
          <p:cNvPr id="19" name="Row divider"/>
          <p:cNvSpPr/>
          <p:nvPr/>
        </p:nvSpPr>
        <p:spPr>
          <a:xfrm>
            <a:off x="822960" y="3182112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822960" y="3200400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My work logs</a:t>
            </a:r>
            <a:endParaRPr lang="en-US" sz="900" dirty="0"/>
          </a:p>
        </p:txBody>
      </p:sp>
      <p:sp>
        <p:nvSpPr>
          <p:cNvPr id="21" name="Row divider"/>
          <p:cNvSpPr/>
          <p:nvPr/>
        </p:nvSpPr>
        <p:spPr>
          <a:xfrm>
            <a:off x="822960" y="3429000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22960" y="3447288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Projects</a:t>
            </a:r>
            <a:endParaRPr lang="en-US" sz="900" dirty="0"/>
          </a:p>
        </p:txBody>
      </p:sp>
      <p:sp>
        <p:nvSpPr>
          <p:cNvPr id="23" name="Row divider"/>
          <p:cNvSpPr/>
          <p:nvPr/>
        </p:nvSpPr>
        <p:spPr>
          <a:xfrm>
            <a:off x="822960" y="3675888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822960" y="3694176"/>
            <a:ext cx="1554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Clients</a:t>
            </a:r>
            <a:endParaRPr lang="en-US" sz="900" dirty="0"/>
          </a:p>
        </p:txBody>
      </p:sp>
      <p:sp>
        <p:nvSpPr>
          <p:cNvPr id="25" name="Row divider"/>
          <p:cNvSpPr/>
          <p:nvPr/>
        </p:nvSpPr>
        <p:spPr>
          <a:xfrm>
            <a:off x="822960" y="3922776"/>
            <a:ext cx="1554480" cy="0"/>
          </a:xfrm>
          <a:prstGeom prst="line">
            <a:avLst/>
          </a:prstGeom>
          <a:noFill/>
          <a:ln w="6350">
            <a:solidFill>
              <a:srgbClr val="C6C5D0"/>
            </a:solidFill>
            <a:prstDash val="solid"/>
          </a:ln>
        </p:spPr>
      </p:sp>
      <p:sp>
        <p:nvSpPr>
          <p:cNvPr id="26" name="Tab bar divider"/>
          <p:cNvSpPr/>
          <p:nvPr/>
        </p:nvSpPr>
        <p:spPr>
          <a:xfrm>
            <a:off x="640080" y="4041648"/>
            <a:ext cx="1920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pic>
        <p:nvPicPr>
          <p:cNvPr id="27" name="Image 0" descr="Tasks 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4712" y="4096512"/>
            <a:ext cx="182880" cy="182880"/>
          </a:xfrm>
          <a:prstGeom prst="rect">
            <a:avLst/>
          </a:prstGeom>
        </p:spPr>
      </p:pic>
      <p:sp>
        <p:nvSpPr>
          <p:cNvPr id="28" name="Text 25"/>
          <p:cNvSpPr txBox="1"/>
          <p:nvPr/>
        </p:nvSpPr>
        <p:spPr>
          <a:xfrm>
            <a:off x="1024128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Tasks</a:t>
            </a:r>
            <a:endParaRPr lang="en-US" sz="700" dirty="0"/>
          </a:p>
        </p:txBody>
      </p:sp>
      <p:pic>
        <p:nvPicPr>
          <p:cNvPr id="29" name="Image 1" descr="Schedule t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08760" y="4096512"/>
            <a:ext cx="182880" cy="182880"/>
          </a:xfrm>
          <a:prstGeom prst="rect">
            <a:avLst/>
          </a:prstGeom>
        </p:spPr>
      </p:pic>
      <p:sp>
        <p:nvSpPr>
          <p:cNvPr id="30" name="Text 26"/>
          <p:cNvSpPr txBox="1"/>
          <p:nvPr/>
        </p:nvSpPr>
        <p:spPr>
          <a:xfrm>
            <a:off x="1408176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Schedule</a:t>
            </a:r>
            <a:endParaRPr lang="en-US" sz="700" dirty="0"/>
          </a:p>
        </p:txBody>
      </p:sp>
      <p:pic>
        <p:nvPicPr>
          <p:cNvPr id="31" name="Image 2" descr="Messages ta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92808" y="4096512"/>
            <a:ext cx="182880" cy="182880"/>
          </a:xfrm>
          <a:prstGeom prst="rect">
            <a:avLst/>
          </a:prstGeom>
        </p:spPr>
      </p:pic>
      <p:sp>
        <p:nvSpPr>
          <p:cNvPr id="32" name="Text 27"/>
          <p:cNvSpPr txBox="1"/>
          <p:nvPr/>
        </p:nvSpPr>
        <p:spPr>
          <a:xfrm>
            <a:off x="1792224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Messages</a:t>
            </a:r>
            <a:endParaRPr lang="en-US" sz="700" dirty="0"/>
          </a:p>
        </p:txBody>
      </p:sp>
      <p:sp>
        <p:nvSpPr>
          <p:cNvPr id="33" name="Unread badge"/>
          <p:cNvSpPr/>
          <p:nvPr/>
        </p:nvSpPr>
        <p:spPr>
          <a:xfrm>
            <a:off x="2020824" y="405993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2020824" y="4059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</a:rPr>
              <a:t>3</a:t>
            </a:r>
            <a:endParaRPr lang="en-US" sz="700" dirty="0"/>
          </a:p>
        </p:txBody>
      </p:sp>
      <p:pic>
        <p:nvPicPr>
          <p:cNvPr id="35" name="Image 3" descr="Home ta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0664" y="4096512"/>
            <a:ext cx="182880" cy="182880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640080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Home</a:t>
            </a:r>
            <a:endParaRPr lang="en-US" sz="700" dirty="0"/>
          </a:p>
        </p:txBody>
      </p:sp>
      <p:pic>
        <p:nvPicPr>
          <p:cNvPr id="37" name="Image 4" descr="More ta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856" y="4096512"/>
            <a:ext cx="182880" cy="182880"/>
          </a:xfrm>
          <a:prstGeom prst="rect">
            <a:avLst/>
          </a:prstGeom>
        </p:spPr>
      </p:pic>
      <p:sp>
        <p:nvSpPr>
          <p:cNvPr id="38" name="Text 31"/>
          <p:cNvSpPr txBox="1"/>
          <p:nvPr/>
        </p:nvSpPr>
        <p:spPr>
          <a:xfrm>
            <a:off x="2176272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1"/>
                </a:solidFill>
              </a:rPr>
              <a:t>More</a:t>
            </a:r>
            <a:endParaRPr lang="en-US" sz="700" dirty="0"/>
          </a:p>
        </p:txBody>
      </p:sp>
      <p:sp>
        <p:nvSpPr>
          <p:cNvPr id="39" name="Icon tile MdTab"/>
          <p:cNvSpPr/>
          <p:nvPr/>
        </p:nvSpPr>
        <p:spPr>
          <a:xfrm>
            <a:off x="3108960" y="9144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40" name="Image 5" descr="Tab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544" y="1014984"/>
            <a:ext cx="256032" cy="256032"/>
          </a:xfrm>
          <a:prstGeom prst="rect">
            <a:avLst/>
          </a:prstGeom>
        </p:spPr>
      </p:pic>
      <p:sp>
        <p:nvSpPr>
          <p:cNvPr id="41" name="Text 33"/>
          <p:cNvSpPr txBox="1"/>
          <p:nvPr/>
        </p:nvSpPr>
        <p:spPr>
          <a:xfrm>
            <a:off x="3749040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Five tabs</a:t>
            </a:r>
            <a:endParaRPr lang="en-US" sz="1500" dirty="0"/>
          </a:p>
        </p:txBody>
      </p:sp>
      <p:sp>
        <p:nvSpPr>
          <p:cNvPr id="42" name="Text 34"/>
          <p:cNvSpPr txBox="1"/>
          <p:nvPr/>
        </p:nvSpPr>
        <p:spPr>
          <a:xfrm>
            <a:off x="3749040" y="1188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Home, Tasks, Schedule, Messages and More. On a computer they sit in a sidebar.</a:t>
            </a:r>
            <a:endParaRPr lang="en-US" sz="1300" dirty="0"/>
          </a:p>
        </p:txBody>
      </p:sp>
      <p:sp>
        <p:nvSpPr>
          <p:cNvPr id="43" name="Icon tile MdMenu"/>
          <p:cNvSpPr/>
          <p:nvPr/>
        </p:nvSpPr>
        <p:spPr>
          <a:xfrm>
            <a:off x="3108960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44" name="Image 6" descr="Menu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544" y="1947672"/>
            <a:ext cx="256032" cy="256032"/>
          </a:xfrm>
          <a:prstGeom prst="rect">
            <a:avLst/>
          </a:prstGeom>
        </p:spPr>
      </p:pic>
      <p:sp>
        <p:nvSpPr>
          <p:cNvPr id="45" name="Text 36"/>
          <p:cNvSpPr txBox="1"/>
          <p:nvPr/>
        </p:nvSpPr>
        <p:spPr>
          <a:xfrm>
            <a:off x="3749040" y="1847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More</a:t>
            </a:r>
            <a:endParaRPr lang="en-US" sz="1500" dirty="0"/>
          </a:p>
        </p:txBody>
      </p:sp>
      <p:sp>
        <p:nvSpPr>
          <p:cNvPr id="46" name="Text 37"/>
          <p:cNvSpPr txBox="1"/>
          <p:nvPr/>
        </p:nvSpPr>
        <p:spPr>
          <a:xfrm>
            <a:off x="3749040" y="21214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Everything else: profile, status, announcements, notifications, reports, leave, directory, work logs, projects, clients, Admin and Log out.</a:t>
            </a:r>
            <a:endParaRPr lang="en-US" sz="1300" dirty="0"/>
          </a:p>
        </p:txBody>
      </p:sp>
      <p:sp>
        <p:nvSpPr>
          <p:cNvPr id="47" name="Icon tile MdMarkChatUnread"/>
          <p:cNvSpPr/>
          <p:nvPr/>
        </p:nvSpPr>
        <p:spPr>
          <a:xfrm>
            <a:off x="3108960" y="277977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48" name="Image 7" descr="MarkChatUnread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9544" y="2880360"/>
            <a:ext cx="256032" cy="256032"/>
          </a:xfrm>
          <a:prstGeom prst="rect">
            <a:avLst/>
          </a:prstGeom>
        </p:spPr>
      </p:pic>
      <p:sp>
        <p:nvSpPr>
          <p:cNvPr id="49" name="Text 39"/>
          <p:cNvSpPr txBox="1"/>
          <p:nvPr/>
        </p:nvSpPr>
        <p:spPr>
          <a:xfrm>
            <a:off x="3749040" y="27797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Unread badge</a:t>
            </a:r>
            <a:endParaRPr lang="en-US" sz="1500" dirty="0"/>
          </a:p>
        </p:txBody>
      </p:sp>
      <p:sp>
        <p:nvSpPr>
          <p:cNvPr id="50" name="Text 40"/>
          <p:cNvSpPr txBox="1"/>
          <p:nvPr/>
        </p:nvSpPr>
        <p:spPr>
          <a:xfrm>
            <a:off x="3749040" y="30540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Messages shows how many messages are unread (99+ above 99). It updates when a page loads.</a:t>
            </a:r>
            <a:endParaRPr lang="en-US" sz="1300" dirty="0"/>
          </a:p>
        </p:txBody>
      </p:sp>
      <p:sp>
        <p:nvSpPr>
          <p:cNvPr id="51" name="Icon tile MdAddCircle"/>
          <p:cNvSpPr/>
          <p:nvPr/>
        </p:nvSpPr>
        <p:spPr>
          <a:xfrm>
            <a:off x="3108960" y="3712464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52" name="Image 8" descr="AddCircle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9544" y="3813048"/>
            <a:ext cx="256032" cy="256032"/>
          </a:xfrm>
          <a:prstGeom prst="rect">
            <a:avLst/>
          </a:prstGeom>
        </p:spPr>
      </p:pic>
      <p:sp>
        <p:nvSpPr>
          <p:cNvPr id="53" name="Text 42"/>
          <p:cNvSpPr txBox="1"/>
          <p:nvPr/>
        </p:nvSpPr>
        <p:spPr>
          <a:xfrm>
            <a:off x="3749040" y="3712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Main action</a:t>
            </a:r>
            <a:endParaRPr lang="en-US" sz="1500" dirty="0"/>
          </a:p>
        </p:txBody>
      </p:sp>
      <p:sp>
        <p:nvSpPr>
          <p:cNvPr id="54" name="Text 43"/>
          <p:cNvSpPr txBox="1"/>
          <p:nvPr/>
        </p:nvSpPr>
        <p:spPr>
          <a:xfrm>
            <a:off x="3749040" y="39867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On a phone, the round + button above the tab bar. On a computer, a button on the page.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Things that work the same everywhere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Icon tile MdHourglassTop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HourglassTop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Saving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Buttons dim and show a spinner while saving. Searches show a spinner in the field.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0515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Icon tile MdFilterAltOff"/>
          <p:cNvSpPr/>
          <p:nvPr/>
        </p:nvSpPr>
        <p:spPr>
          <a:xfrm>
            <a:off x="342900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FilterAltOff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32496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Clear filters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Lists with filters have Clear filters; searches have Clear search.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05156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Icon tile MdViewList"/>
          <p:cNvSpPr/>
          <p:nvPr/>
        </p:nvSpPr>
        <p:spPr>
          <a:xfrm>
            <a:off x="62179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5" name="Image 2" descr="ViewList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1324966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Pages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78308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Long lists use Previous and Next, showing "Page X of Y".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57200" y="28346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Icon tile MdHelpOutline"/>
          <p:cNvSpPr/>
          <p:nvPr/>
        </p:nvSpPr>
        <p:spPr>
          <a:xfrm>
            <a:off x="640080" y="301752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0" name="Image 3" descr="HelpOutline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606" y="3108046"/>
            <a:ext cx="230429" cy="23042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1188720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Confirmations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64008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Risky actions ask first, in a dialog (a sheet from the bottom on phones).</a:t>
            </a:r>
            <a:endParaRPr lang="en-US" sz="1400" dirty="0"/>
          </a:p>
        </p:txBody>
      </p:sp>
      <p:sp>
        <p:nvSpPr>
          <p:cNvPr id="23" name="Card"/>
          <p:cNvSpPr/>
          <p:nvPr/>
        </p:nvSpPr>
        <p:spPr>
          <a:xfrm>
            <a:off x="3246120" y="28346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4" name="Icon tile MdWifiOff"/>
          <p:cNvSpPr/>
          <p:nvPr/>
        </p:nvSpPr>
        <p:spPr>
          <a:xfrm>
            <a:off x="3429000" y="301752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5" name="Image 4" descr="WifiOff ico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519526" y="3108046"/>
            <a:ext cx="230429" cy="230429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3977640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Offline</a:t>
            </a:r>
            <a:endParaRPr lang="en-US" sz="1600" dirty="0"/>
          </a:p>
        </p:txBody>
      </p:sp>
      <p:sp>
        <p:nvSpPr>
          <p:cNvPr id="27" name="Text 20"/>
          <p:cNvSpPr txBox="1"/>
          <p:nvPr/>
        </p:nvSpPr>
        <p:spPr>
          <a:xfrm>
            <a:off x="342900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 banner says changes won't be saved. Your typing stays; save again once back online.</a:t>
            </a:r>
            <a:endParaRPr lang="en-US" sz="1400" dirty="0"/>
          </a:p>
        </p:txBody>
      </p:sp>
      <p:sp>
        <p:nvSpPr>
          <p:cNvPr id="28" name="Card"/>
          <p:cNvSpPr/>
          <p:nvPr/>
        </p:nvSpPr>
        <p:spPr>
          <a:xfrm>
            <a:off x="6035040" y="2834640"/>
            <a:ext cx="26517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29" name="Icon tile MdCenterFocusStrong"/>
          <p:cNvSpPr/>
          <p:nvPr/>
        </p:nvSpPr>
        <p:spPr>
          <a:xfrm>
            <a:off x="6217920" y="301752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30" name="Image 5" descr="CenterFocusStrong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08446" y="3108046"/>
            <a:ext cx="230429" cy="230429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6766560" y="301752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Focus</a:t>
            </a:r>
            <a:endParaRPr lang="en-US" sz="1600" dirty="0"/>
          </a:p>
        </p:txBody>
      </p:sp>
      <p:sp>
        <p:nvSpPr>
          <p:cNvPr id="32" name="Text 24"/>
          <p:cNvSpPr txBox="1"/>
          <p:nvPr/>
        </p:nvSpPr>
        <p:spPr>
          <a:xfrm>
            <a:off x="6217920" y="3566160"/>
            <a:ext cx="2286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After a page change focus moves to the heading; after a failed save, to the first problem field.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Staff portal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Your day-to-day work, on a phone or a computer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Home shows today and what needs you</a:t>
            </a:r>
            <a:endParaRPr lang="en-US" sz="2800" dirty="0"/>
          </a:p>
        </p:txBody>
      </p:sp>
      <p:sp>
        <p:nvSpPr>
          <p:cNvPr id="3" name="Phone frame"/>
          <p:cNvSpPr/>
          <p:nvPr/>
        </p:nvSpPr>
        <p:spPr>
          <a:xfrm>
            <a:off x="548640" y="868680"/>
            <a:ext cx="2103120" cy="3794760"/>
          </a:xfrm>
          <a:prstGeom prst="roundRect">
            <a:avLst>
              <a:gd name="adj" fmla="val 10870"/>
            </a:avLst>
          </a:prstGeom>
          <a:solidFill>
            <a:schemeClr val="tx1"/>
          </a:solidFill>
          <a:ln/>
        </p:spPr>
      </p:sp>
      <p:sp>
        <p:nvSpPr>
          <p:cNvPr id="4" name="Phone screen"/>
          <p:cNvSpPr/>
          <p:nvPr/>
        </p:nvSpPr>
        <p:spPr>
          <a:xfrm>
            <a:off x="640080" y="1033272"/>
            <a:ext cx="1920240" cy="3465576"/>
          </a:xfrm>
          <a:prstGeom prst="roundRect">
            <a:avLst>
              <a:gd name="adj" fmla="val 7143"/>
            </a:avLst>
          </a:prstGeom>
          <a:solidFill>
            <a:srgbClr val="F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b="1" dirty="0">
                <a:solidFill>
                  <a:schemeClr val="tx2"/>
                </a:solidFill>
              </a:rPr>
              <a:t>Hello, Maria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777240" y="144475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6"/>
                </a:solidFill>
              </a:rPr>
              <a:t>Today · Fri 17 Oct</a:t>
            </a:r>
            <a:endParaRPr lang="en-US" sz="800" dirty="0"/>
          </a:p>
        </p:txBody>
      </p:sp>
      <p:sp>
        <p:nvSpPr>
          <p:cNvPr id="7" name="Card"/>
          <p:cNvSpPr/>
          <p:nvPr/>
        </p:nvSpPr>
        <p:spPr>
          <a:xfrm>
            <a:off x="777240" y="1655064"/>
            <a:ext cx="1645920" cy="457200"/>
          </a:xfrm>
          <a:prstGeom prst="roundRect">
            <a:avLst>
              <a:gd name="adj" fmla="val 16000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68680" y="1673352"/>
            <a:ext cx="146304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09:30 Client visit</a:t>
            </a:r>
            <a:endParaRPr lang="en-US" sz="800" dirty="0"/>
          </a:p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Due: Site checklist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221992"/>
            <a:ext cx="1645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800" b="1" dirty="0">
                <a:solidFill>
                  <a:schemeClr val="accent6"/>
                </a:solidFill>
              </a:rPr>
              <a:t>Needs attention</a:t>
            </a:r>
            <a:endParaRPr lang="en-US" sz="800" dirty="0"/>
          </a:p>
        </p:txBody>
      </p:sp>
      <p:sp>
        <p:nvSpPr>
          <p:cNvPr id="10" name="Card"/>
          <p:cNvSpPr/>
          <p:nvPr/>
        </p:nvSpPr>
        <p:spPr>
          <a:xfrm>
            <a:off x="777240" y="2432304"/>
            <a:ext cx="1645920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868680" y="243230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My tasks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1600200" y="243230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accent5"/>
                </a:solidFill>
              </a:rPr>
              <a:t>1 overdue</a:t>
            </a:r>
            <a:endParaRPr lang="en-US" sz="800" dirty="0"/>
          </a:p>
        </p:txBody>
      </p:sp>
      <p:sp>
        <p:nvSpPr>
          <p:cNvPr id="13" name="Card"/>
          <p:cNvSpPr/>
          <p:nvPr/>
        </p:nvSpPr>
        <p:spPr>
          <a:xfrm>
            <a:off x="777240" y="2843784"/>
            <a:ext cx="1645920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868680" y="284378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Messages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1600200" y="284378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3 unread</a:t>
            </a:r>
            <a:endParaRPr lang="en-US" sz="800" dirty="0"/>
          </a:p>
        </p:txBody>
      </p:sp>
      <p:sp>
        <p:nvSpPr>
          <p:cNvPr id="16" name="Card"/>
          <p:cNvSpPr/>
          <p:nvPr/>
        </p:nvSpPr>
        <p:spPr>
          <a:xfrm>
            <a:off x="777240" y="3255264"/>
            <a:ext cx="1645920" cy="347472"/>
          </a:xfrm>
          <a:prstGeom prst="roundRect">
            <a:avLst>
              <a:gd name="adj" fmla="val 21053"/>
            </a:avLst>
          </a:prstGeom>
          <a:solidFill>
            <a:schemeClr val="bg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868680" y="3255264"/>
            <a:ext cx="914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chemeClr val="tx1"/>
                </a:solidFill>
              </a:rPr>
              <a:t>Notifications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255264"/>
            <a:ext cx="7772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2 unread</a:t>
            </a:r>
            <a:endParaRPr lang="en-US" sz="800" dirty="0"/>
          </a:p>
        </p:txBody>
      </p:sp>
      <p:sp>
        <p:nvSpPr>
          <p:cNvPr id="19" name="Tab bar divider"/>
          <p:cNvSpPr/>
          <p:nvPr/>
        </p:nvSpPr>
        <p:spPr>
          <a:xfrm>
            <a:off x="640080" y="4041648"/>
            <a:ext cx="1920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pic>
        <p:nvPicPr>
          <p:cNvPr id="20" name="Image 0" descr="Home 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096512"/>
            <a:ext cx="182880" cy="182880"/>
          </a:xfrm>
          <a:prstGeom prst="rect">
            <a:avLst/>
          </a:prstGeom>
        </p:spPr>
      </p:pic>
      <p:sp>
        <p:nvSpPr>
          <p:cNvPr id="21" name="Text 18"/>
          <p:cNvSpPr txBox="1"/>
          <p:nvPr/>
        </p:nvSpPr>
        <p:spPr>
          <a:xfrm>
            <a:off x="640080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1"/>
                </a:solidFill>
              </a:rPr>
              <a:t>Home</a:t>
            </a:r>
            <a:endParaRPr lang="en-US" sz="700" dirty="0"/>
          </a:p>
        </p:txBody>
      </p:sp>
      <p:pic>
        <p:nvPicPr>
          <p:cNvPr id="22" name="Image 1" descr="Tasks t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096512"/>
            <a:ext cx="182880" cy="182880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1024128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Tasks</a:t>
            </a:r>
            <a:endParaRPr lang="en-US" sz="700" dirty="0"/>
          </a:p>
        </p:txBody>
      </p:sp>
      <p:pic>
        <p:nvPicPr>
          <p:cNvPr id="24" name="Image 2" descr="Schedule ta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4096512"/>
            <a:ext cx="182880" cy="182880"/>
          </a:xfrm>
          <a:prstGeom prst="rect">
            <a:avLst/>
          </a:prstGeom>
        </p:spPr>
      </p:pic>
      <p:sp>
        <p:nvSpPr>
          <p:cNvPr id="25" name="Text 20"/>
          <p:cNvSpPr txBox="1"/>
          <p:nvPr/>
        </p:nvSpPr>
        <p:spPr>
          <a:xfrm>
            <a:off x="1408176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Schedule</a:t>
            </a:r>
            <a:endParaRPr lang="en-US" sz="700" dirty="0"/>
          </a:p>
        </p:txBody>
      </p:sp>
      <p:pic>
        <p:nvPicPr>
          <p:cNvPr id="26" name="Image 3" descr="Messages ta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892808" y="4096512"/>
            <a:ext cx="182880" cy="182880"/>
          </a:xfrm>
          <a:prstGeom prst="rect">
            <a:avLst/>
          </a:prstGeom>
        </p:spPr>
      </p:pic>
      <p:sp>
        <p:nvSpPr>
          <p:cNvPr id="27" name="Text 21"/>
          <p:cNvSpPr txBox="1"/>
          <p:nvPr/>
        </p:nvSpPr>
        <p:spPr>
          <a:xfrm>
            <a:off x="1792224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Messages</a:t>
            </a:r>
            <a:endParaRPr lang="en-US" sz="700" dirty="0"/>
          </a:p>
        </p:txBody>
      </p:sp>
      <p:sp>
        <p:nvSpPr>
          <p:cNvPr id="28" name="Unread badge"/>
          <p:cNvSpPr/>
          <p:nvPr/>
        </p:nvSpPr>
        <p:spPr>
          <a:xfrm>
            <a:off x="2020824" y="4059936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29" name="Text 23"/>
          <p:cNvSpPr txBox="1"/>
          <p:nvPr/>
        </p:nvSpPr>
        <p:spPr>
          <a:xfrm>
            <a:off x="2020824" y="4059936"/>
            <a:ext cx="16459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bg1"/>
                </a:solidFill>
              </a:rPr>
              <a:t>3</a:t>
            </a:r>
            <a:endParaRPr lang="en-US" sz="700" dirty="0"/>
          </a:p>
        </p:txBody>
      </p:sp>
      <p:pic>
        <p:nvPicPr>
          <p:cNvPr id="30" name="Image 4" descr="More ta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76856" y="4096512"/>
            <a:ext cx="182880" cy="182880"/>
          </a:xfrm>
          <a:prstGeom prst="rect">
            <a:avLst/>
          </a:prstGeom>
        </p:spPr>
      </p:pic>
      <p:sp>
        <p:nvSpPr>
          <p:cNvPr id="31" name="Text 24"/>
          <p:cNvSpPr txBox="1"/>
          <p:nvPr/>
        </p:nvSpPr>
        <p:spPr>
          <a:xfrm>
            <a:off x="2176272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More</a:t>
            </a:r>
            <a:endParaRPr lang="en-US" sz="700" dirty="0"/>
          </a:p>
        </p:txBody>
      </p:sp>
      <p:sp>
        <p:nvSpPr>
          <p:cNvPr id="32" name="Icon tile MdWavingHand"/>
          <p:cNvSpPr/>
          <p:nvPr/>
        </p:nvSpPr>
        <p:spPr>
          <a:xfrm>
            <a:off x="3108960" y="91440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33" name="Image 5" descr="WavingHand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209544" y="1014984"/>
            <a:ext cx="256032" cy="256032"/>
          </a:xfrm>
          <a:prstGeom prst="rect">
            <a:avLst/>
          </a:prstGeom>
        </p:spPr>
      </p:pic>
      <p:sp>
        <p:nvSpPr>
          <p:cNvPr id="34" name="Text 26"/>
          <p:cNvSpPr txBox="1"/>
          <p:nvPr/>
        </p:nvSpPr>
        <p:spPr>
          <a:xfrm>
            <a:off x="3749040" y="91440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Greeting</a:t>
            </a:r>
            <a:endParaRPr lang="en-US" sz="1500" dirty="0"/>
          </a:p>
        </p:txBody>
      </p:sp>
      <p:sp>
        <p:nvSpPr>
          <p:cNvPr id="35" name="Text 27"/>
          <p:cNvSpPr txBox="1"/>
          <p:nvPr/>
        </p:nvSpPr>
        <p:spPr>
          <a:xfrm>
            <a:off x="3749040" y="118872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Your name with your position, department and team.</a:t>
            </a:r>
            <a:endParaRPr lang="en-US" sz="1300" dirty="0"/>
          </a:p>
        </p:txBody>
      </p:sp>
      <p:sp>
        <p:nvSpPr>
          <p:cNvPr id="36" name="Icon tile MdToday"/>
          <p:cNvSpPr/>
          <p:nvPr/>
        </p:nvSpPr>
        <p:spPr>
          <a:xfrm>
            <a:off x="3108960" y="1847088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37" name="Image 6" descr="Today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209544" y="1947672"/>
            <a:ext cx="256032" cy="256032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3749040" y="1847088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Today</a:t>
            </a:r>
            <a:endParaRPr lang="en-US" sz="1500" dirty="0"/>
          </a:p>
        </p:txBody>
      </p:sp>
      <p:sp>
        <p:nvSpPr>
          <p:cNvPr id="39" name="Text 30"/>
          <p:cNvSpPr txBox="1"/>
          <p:nvPr/>
        </p:nvSpPr>
        <p:spPr>
          <a:xfrm>
            <a:off x="3749040" y="2121408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Your schedule entries and tasks due today. Tap one to open it; "+N more today" means there are others.</a:t>
            </a:r>
            <a:endParaRPr lang="en-US" sz="1300" dirty="0"/>
          </a:p>
        </p:txBody>
      </p:sp>
      <p:sp>
        <p:nvSpPr>
          <p:cNvPr id="40" name="Icon tile MdPriorityHigh"/>
          <p:cNvSpPr/>
          <p:nvPr/>
        </p:nvSpPr>
        <p:spPr>
          <a:xfrm>
            <a:off x="3108960" y="2779776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41" name="Image 7" descr="PriorityHigh icon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209544" y="2880360"/>
            <a:ext cx="256032" cy="256032"/>
          </a:xfrm>
          <a:prstGeom prst="rect">
            <a:avLst/>
          </a:prstGeom>
        </p:spPr>
      </p:pic>
      <p:sp>
        <p:nvSpPr>
          <p:cNvPr id="42" name="Text 32"/>
          <p:cNvSpPr txBox="1"/>
          <p:nvPr/>
        </p:nvSpPr>
        <p:spPr>
          <a:xfrm>
            <a:off x="3749040" y="2779776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Needs attention</a:t>
            </a:r>
            <a:endParaRPr lang="en-US" sz="1500" dirty="0"/>
          </a:p>
        </p:txBody>
      </p:sp>
      <p:sp>
        <p:nvSpPr>
          <p:cNvPr id="43" name="Text 33"/>
          <p:cNvSpPr txBox="1"/>
          <p:nvPr/>
        </p:nvSpPr>
        <p:spPr>
          <a:xfrm>
            <a:off x="3749040" y="3054096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Open, overdue (red) and due-today tasks, plus unread messages and notifications.</a:t>
            </a:r>
            <a:endParaRPr lang="en-US" sz="1300" dirty="0"/>
          </a:p>
        </p:txBody>
      </p:sp>
      <p:sp>
        <p:nvSpPr>
          <p:cNvPr id="44" name="Icon tile MdCampaign"/>
          <p:cNvSpPr/>
          <p:nvPr/>
        </p:nvSpPr>
        <p:spPr>
          <a:xfrm>
            <a:off x="3108960" y="3712464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2"/>
          </a:solidFill>
          <a:ln/>
        </p:spPr>
      </p:sp>
      <p:pic>
        <p:nvPicPr>
          <p:cNvPr id="45" name="Image 8" descr="Campaign ico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209544" y="3813048"/>
            <a:ext cx="256032" cy="256032"/>
          </a:xfrm>
          <a:prstGeom prst="rect">
            <a:avLst/>
          </a:prstGeom>
        </p:spPr>
      </p:pic>
      <p:sp>
        <p:nvSpPr>
          <p:cNvPr id="46" name="Text 35"/>
          <p:cNvSpPr txBox="1"/>
          <p:nvPr/>
        </p:nvSpPr>
        <p:spPr>
          <a:xfrm>
            <a:off x="3749040" y="3712464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Latest announcements</a:t>
            </a:r>
            <a:endParaRPr lang="en-US" sz="1500" dirty="0"/>
          </a:p>
        </p:txBody>
      </p:sp>
      <p:sp>
        <p:nvSpPr>
          <p:cNvPr id="47" name="Text 36"/>
          <p:cNvSpPr txBox="1"/>
          <p:nvPr/>
        </p:nvSpPr>
        <p:spPr>
          <a:xfrm>
            <a:off x="3749040" y="3986784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newest company news, with All announcements to see the rest.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Tasks: track and update your work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Change a task's status from its page. Each change saves straight away.</a:t>
            </a:r>
            <a:endParaRPr lang="en-US" sz="1400" dirty="0"/>
          </a:p>
        </p:txBody>
      </p:sp>
      <p:sp>
        <p:nvSpPr>
          <p:cNvPr id="4" name="Status To do"/>
          <p:cNvSpPr/>
          <p:nvPr/>
        </p:nvSpPr>
        <p:spPr>
          <a:xfrm>
            <a:off x="457200" y="1371600"/>
            <a:ext cx="182880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45720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To do</a:t>
            </a:r>
            <a:endParaRPr lang="en-US" sz="1300" dirty="0"/>
          </a:p>
        </p:txBody>
      </p:sp>
      <p:sp>
        <p:nvSpPr>
          <p:cNvPr id="6" name="Arrow"/>
          <p:cNvSpPr/>
          <p:nvPr/>
        </p:nvSpPr>
        <p:spPr>
          <a:xfrm>
            <a:off x="2340864" y="1504188"/>
            <a:ext cx="164592" cy="14630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7" name="Status In progress"/>
          <p:cNvSpPr/>
          <p:nvPr/>
        </p:nvSpPr>
        <p:spPr>
          <a:xfrm>
            <a:off x="2560320" y="1371600"/>
            <a:ext cx="1828800" cy="411480"/>
          </a:xfrm>
          <a:prstGeom prst="roundRect">
            <a:avLst>
              <a:gd name="adj" fmla="val 44444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256032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In progress</a:t>
            </a:r>
            <a:endParaRPr lang="en-US" sz="1300" dirty="0"/>
          </a:p>
        </p:txBody>
      </p:sp>
      <p:sp>
        <p:nvSpPr>
          <p:cNvPr id="9" name="Arrow"/>
          <p:cNvSpPr/>
          <p:nvPr/>
        </p:nvSpPr>
        <p:spPr>
          <a:xfrm>
            <a:off x="4443984" y="1504188"/>
            <a:ext cx="164592" cy="14630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0" name="Status Blocked"/>
          <p:cNvSpPr/>
          <p:nvPr/>
        </p:nvSpPr>
        <p:spPr>
          <a:xfrm>
            <a:off x="4663440" y="137160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FFDEA6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466344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Blocked</a:t>
            </a:r>
            <a:endParaRPr lang="en-US" sz="1300" dirty="0"/>
          </a:p>
        </p:txBody>
      </p:sp>
      <p:sp>
        <p:nvSpPr>
          <p:cNvPr id="12" name="Arrow"/>
          <p:cNvSpPr/>
          <p:nvPr/>
        </p:nvSpPr>
        <p:spPr>
          <a:xfrm>
            <a:off x="6547104" y="1504188"/>
            <a:ext cx="164592" cy="14630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3" name="Status Completed"/>
          <p:cNvSpPr/>
          <p:nvPr/>
        </p:nvSpPr>
        <p:spPr>
          <a:xfrm>
            <a:off x="6766560" y="1371600"/>
            <a:ext cx="1828800" cy="411480"/>
          </a:xfrm>
          <a:prstGeom prst="roundRect">
            <a:avLst>
              <a:gd name="adj" fmla="val 44444"/>
            </a:avLst>
          </a:prstGeom>
          <a:solidFill>
            <a:srgbClr val="DCF3E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766560" y="1371600"/>
            <a:ext cx="18288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accent3"/>
                </a:solidFill>
              </a:rPr>
              <a:t>Completed</a:t>
            </a:r>
            <a:endParaRPr lang="en-US" sz="1300" dirty="0"/>
          </a:p>
        </p:txBody>
      </p:sp>
      <p:sp>
        <p:nvSpPr>
          <p:cNvPr id="15" name="Card"/>
          <p:cNvSpPr/>
          <p:nvPr/>
        </p:nvSpPr>
        <p:spPr>
          <a:xfrm>
            <a:off x="457200" y="20574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16" name="Icon tile MdFilterList"/>
          <p:cNvSpPr/>
          <p:nvPr/>
        </p:nvSpPr>
        <p:spPr>
          <a:xfrm>
            <a:off x="640080" y="22402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7" name="Image 0" descr="FilterLis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2330806"/>
            <a:ext cx="230429" cy="230429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18872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Find tasks</a:t>
            </a:r>
            <a:endParaRPr lang="en-US" sz="16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Open or Done filters your own tasks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With permission: Mine / All, and Search by title in All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Overdue and due-today dates are flagged</a:t>
            </a:r>
            <a:endParaRPr lang="en-US" sz="1300" dirty="0"/>
          </a:p>
        </p:txBody>
      </p:sp>
      <p:sp>
        <p:nvSpPr>
          <p:cNvPr id="20" name="Card"/>
          <p:cNvSpPr/>
          <p:nvPr/>
        </p:nvSpPr>
        <p:spPr>
          <a:xfrm>
            <a:off x="3246120" y="20574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21" name="Icon tile MdEditNote"/>
          <p:cNvSpPr/>
          <p:nvPr/>
        </p:nvSpPr>
        <p:spPr>
          <a:xfrm>
            <a:off x="3429000" y="22402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2" name="Image 1" descr="EditNot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2330806"/>
            <a:ext cx="230429" cy="230429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97764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Add and edit</a:t>
            </a:r>
            <a:endParaRPr lang="en-US" sz="1600" dirty="0"/>
          </a:p>
        </p:txBody>
      </p:sp>
      <p:sp>
        <p:nvSpPr>
          <p:cNvPr id="24" name="Text 20"/>
          <p:cNvSpPr txBox="1"/>
          <p:nvPr/>
        </p:nvSpPr>
        <p:spPr>
          <a:xfrm>
            <a:off x="342900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Project leads, or people with permission, use + for New task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Set title, project, assignee, priority (Low to Urgent) and due date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Delete only a To do task with no work logged</a:t>
            </a:r>
            <a:endParaRPr lang="en-US" sz="1300" dirty="0"/>
          </a:p>
        </p:txBody>
      </p:sp>
      <p:sp>
        <p:nvSpPr>
          <p:cNvPr id="25" name="Card"/>
          <p:cNvSpPr/>
          <p:nvPr/>
        </p:nvSpPr>
        <p:spPr>
          <a:xfrm>
            <a:off x="6035040" y="2057400"/>
            <a:ext cx="2651760" cy="2514600"/>
          </a:xfrm>
          <a:prstGeom prst="roundRect">
            <a:avLst>
              <a:gd name="adj" fmla="val 2909"/>
            </a:avLst>
          </a:prstGeom>
          <a:solidFill>
            <a:schemeClr val="bg2"/>
          </a:solidFill>
          <a:ln/>
        </p:spPr>
      </p:sp>
      <p:sp>
        <p:nvSpPr>
          <p:cNvPr id="26" name="Icon tile MdTimer"/>
          <p:cNvSpPr/>
          <p:nvPr/>
        </p:nvSpPr>
        <p:spPr>
          <a:xfrm>
            <a:off x="6217920" y="22402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7" name="Image 2" descr="Timer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2330806"/>
            <a:ext cx="230429" cy="230429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766560" y="224028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Log work</a:t>
            </a:r>
            <a:endParaRPr lang="en-US" sz="1600" dirty="0"/>
          </a:p>
        </p:txBody>
      </p:sp>
      <p:sp>
        <p:nvSpPr>
          <p:cNvPr id="29" name="Text 24"/>
          <p:cNvSpPr txBox="1"/>
          <p:nvPr/>
        </p:nvSpPr>
        <p:spPr>
          <a:xfrm>
            <a:off x="6217920" y="2788920"/>
            <a:ext cx="228600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 Log work on the task page to record time against it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cancelled task can't be changed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Schedule: your week at a glance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512064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640080" y="118872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tx2"/>
                </a:solidFill>
              </a:rPr>
              <a:t>Week of 13 Oct</a:t>
            </a:r>
            <a:endParaRPr lang="en-US" sz="1300" dirty="0"/>
          </a:p>
        </p:txBody>
      </p:sp>
      <p:sp>
        <p:nvSpPr>
          <p:cNvPr id="5" name="Chip Previous week"/>
          <p:cNvSpPr/>
          <p:nvPr/>
        </p:nvSpPr>
        <p:spPr>
          <a:xfrm>
            <a:off x="2514600" y="1188720"/>
            <a:ext cx="100584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514600" y="1188720"/>
            <a:ext cx="1005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Previous week</a:t>
            </a:r>
            <a:endParaRPr lang="en-US" sz="900" dirty="0"/>
          </a:p>
        </p:txBody>
      </p:sp>
      <p:sp>
        <p:nvSpPr>
          <p:cNvPr id="7" name="Chip Today"/>
          <p:cNvSpPr/>
          <p:nvPr/>
        </p:nvSpPr>
        <p:spPr>
          <a:xfrm>
            <a:off x="3611880" y="1188720"/>
            <a:ext cx="59436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3611880" y="1188720"/>
            <a:ext cx="594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Today</a:t>
            </a:r>
            <a:endParaRPr lang="en-US" sz="900" dirty="0"/>
          </a:p>
        </p:txBody>
      </p:sp>
      <p:sp>
        <p:nvSpPr>
          <p:cNvPr id="9" name="Chip Next week"/>
          <p:cNvSpPr/>
          <p:nvPr/>
        </p:nvSpPr>
        <p:spPr>
          <a:xfrm>
            <a:off x="4297680" y="1188720"/>
            <a:ext cx="91440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297680" y="1188720"/>
            <a:ext cx="914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Next week</a:t>
            </a:r>
            <a:endParaRPr lang="en-US" sz="900" dirty="0"/>
          </a:p>
        </p:txBody>
      </p:sp>
      <p:sp>
        <p:nvSpPr>
          <p:cNvPr id="11" name="Card"/>
          <p:cNvSpPr/>
          <p:nvPr/>
        </p:nvSpPr>
        <p:spPr>
          <a:xfrm>
            <a:off x="640080" y="1645920"/>
            <a:ext cx="47548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77240" y="1645920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Mon 13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1645920" y="1645920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10:00 Team meeting</a:t>
            </a:r>
            <a:endParaRPr lang="en-US" sz="1100" dirty="0"/>
          </a:p>
        </p:txBody>
      </p:sp>
      <p:sp>
        <p:nvSpPr>
          <p:cNvPr id="14" name="Card"/>
          <p:cNvSpPr/>
          <p:nvPr/>
        </p:nvSpPr>
        <p:spPr>
          <a:xfrm>
            <a:off x="640080" y="2212848"/>
            <a:ext cx="47548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777240" y="2212848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Tue 14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2212848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chemeClr val="accent6"/>
                </a:solidFill>
              </a:rPr>
              <a:t>Nothing scheduled.</a:t>
            </a:r>
            <a:endParaRPr lang="en-US" sz="1100" dirty="0"/>
          </a:p>
        </p:txBody>
      </p:sp>
      <p:sp>
        <p:nvSpPr>
          <p:cNvPr id="17" name="Card"/>
          <p:cNvSpPr/>
          <p:nvPr/>
        </p:nvSpPr>
        <p:spPr>
          <a:xfrm>
            <a:off x="640080" y="2779776"/>
            <a:ext cx="47548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777240" y="2779776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Wed 15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1645920" y="2779776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All day · Training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640080" y="3346704"/>
            <a:ext cx="47548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77240" y="3346704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Thu 16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1645920" y="3346704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14:00 Service appointment</a:t>
            </a:r>
            <a:endParaRPr lang="en-US" sz="1100" dirty="0"/>
          </a:p>
        </p:txBody>
      </p:sp>
      <p:sp>
        <p:nvSpPr>
          <p:cNvPr id="23" name="Card"/>
          <p:cNvSpPr/>
          <p:nvPr/>
        </p:nvSpPr>
        <p:spPr>
          <a:xfrm>
            <a:off x="640080" y="3913632"/>
            <a:ext cx="4754880" cy="475488"/>
          </a:xfrm>
          <a:prstGeom prst="roundRect">
            <a:avLst>
              <a:gd name="adj" fmla="val 15385"/>
            </a:avLst>
          </a:prstGeom>
          <a:solidFill>
            <a:schemeClr val="bg1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3913632"/>
            <a:ext cx="8229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Fri 17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1645920" y="3913632"/>
            <a:ext cx="3566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Task due · Site checklist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5852160" y="1097280"/>
            <a:ext cx="2834640" cy="3474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Move between weeks with Previous week, Next week and Today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Tap a task to open the task page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Tap an entry to see when, project, organizer, people and description</a:t>
            </a:r>
            <a:endParaRPr lang="en-US" sz="140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Read-only: </a:t>
            </a:r>
            <a:pPr indent="0" marL="0">
              <a:spcAft>
                <a:spcPts val="10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Administrators create entries in the Backoffice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Messages: chat with colleagues</a:t>
            </a:r>
            <a:endParaRPr lang="en-US" sz="2800" dirty="0"/>
          </a:p>
        </p:txBody>
      </p:sp>
      <p:sp>
        <p:nvSpPr>
          <p:cNvPr id="3" name="Phone frame"/>
          <p:cNvSpPr/>
          <p:nvPr/>
        </p:nvSpPr>
        <p:spPr>
          <a:xfrm>
            <a:off x="548640" y="868680"/>
            <a:ext cx="2103120" cy="3794760"/>
          </a:xfrm>
          <a:prstGeom prst="roundRect">
            <a:avLst>
              <a:gd name="adj" fmla="val 10870"/>
            </a:avLst>
          </a:prstGeom>
          <a:solidFill>
            <a:schemeClr val="tx1"/>
          </a:solidFill>
          <a:ln/>
        </p:spPr>
      </p:sp>
      <p:sp>
        <p:nvSpPr>
          <p:cNvPr id="4" name="Phone screen"/>
          <p:cNvSpPr/>
          <p:nvPr/>
        </p:nvSpPr>
        <p:spPr>
          <a:xfrm>
            <a:off x="640080" y="1033272"/>
            <a:ext cx="1920240" cy="3465576"/>
          </a:xfrm>
          <a:prstGeom prst="roundRect">
            <a:avLst>
              <a:gd name="adj" fmla="val 7143"/>
            </a:avLst>
          </a:prstGeom>
          <a:solidFill>
            <a:srgbClr val="FBF8FF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77240" y="1143000"/>
            <a:ext cx="1645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Ahmed Khan</a:t>
            </a:r>
            <a:endParaRPr lang="en-US" sz="1100" dirty="0"/>
          </a:p>
        </p:txBody>
      </p:sp>
      <p:sp>
        <p:nvSpPr>
          <p:cNvPr id="6" name="Text 4"/>
          <p:cNvSpPr txBox="1"/>
          <p:nvPr/>
        </p:nvSpPr>
        <p:spPr>
          <a:xfrm>
            <a:off x="640080" y="1444752"/>
            <a:ext cx="19202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Today</a:t>
            </a:r>
            <a:endParaRPr lang="en-US" sz="700" dirty="0"/>
          </a:p>
        </p:txBody>
      </p:sp>
      <p:sp>
        <p:nvSpPr>
          <p:cNvPr id="7" name="Message bubble"/>
          <p:cNvSpPr/>
          <p:nvPr/>
        </p:nvSpPr>
        <p:spPr>
          <a:xfrm>
            <a:off x="749808" y="1673352"/>
            <a:ext cx="123444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167335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Are you at the client site?</a:t>
            </a:r>
            <a:endParaRPr lang="en-US" sz="800" dirty="0"/>
          </a:p>
        </p:txBody>
      </p:sp>
      <p:sp>
        <p:nvSpPr>
          <p:cNvPr id="9" name="Message bubble"/>
          <p:cNvSpPr/>
          <p:nvPr/>
        </p:nvSpPr>
        <p:spPr>
          <a:xfrm>
            <a:off x="1216152" y="2130552"/>
            <a:ext cx="1234440" cy="347472"/>
          </a:xfrm>
          <a:prstGeom prst="roundRect">
            <a:avLst>
              <a:gd name="adj" fmla="val 26316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1289304" y="213055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bg1"/>
                </a:solidFill>
              </a:rPr>
              <a:t>Yes, arriving 9:30</a:t>
            </a:r>
            <a:endParaRPr lang="en-US" sz="800" dirty="0"/>
          </a:p>
        </p:txBody>
      </p:sp>
      <p:sp>
        <p:nvSpPr>
          <p:cNvPr id="11" name="Message bubble"/>
          <p:cNvSpPr/>
          <p:nvPr/>
        </p:nvSpPr>
        <p:spPr>
          <a:xfrm>
            <a:off x="749808" y="2587752"/>
            <a:ext cx="1234440" cy="347472"/>
          </a:xfrm>
          <a:prstGeom prst="roundRect">
            <a:avLst>
              <a:gd name="adj" fmla="val 26316"/>
            </a:avLst>
          </a:prstGeom>
          <a:solidFill>
            <a:schemeClr val="accent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822960" y="2587752"/>
            <a:ext cx="10881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chemeClr val="tx1"/>
                </a:solidFill>
              </a:rPr>
              <a:t>Great, thanks!</a:t>
            </a:r>
            <a:endParaRPr lang="en-US" sz="800" dirty="0"/>
          </a:p>
        </p:txBody>
      </p:sp>
      <p:sp>
        <p:nvSpPr>
          <p:cNvPr id="13" name="Message box"/>
          <p:cNvSpPr/>
          <p:nvPr/>
        </p:nvSpPr>
        <p:spPr>
          <a:xfrm>
            <a:off x="749808" y="3630168"/>
            <a:ext cx="1234440" cy="31089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rgbClr val="767680"/>
            </a:solidFill>
            <a:prstDash val="solid"/>
          </a:ln>
        </p:spPr>
      </p:sp>
      <p:sp>
        <p:nvSpPr>
          <p:cNvPr id="14" name="Chip Send"/>
          <p:cNvSpPr/>
          <p:nvPr/>
        </p:nvSpPr>
        <p:spPr>
          <a:xfrm>
            <a:off x="2029968" y="3630168"/>
            <a:ext cx="43891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029968" y="3630168"/>
            <a:ext cx="4389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Send</a:t>
            </a:r>
            <a:endParaRPr lang="en-US" sz="800" dirty="0"/>
          </a:p>
        </p:txBody>
      </p:sp>
      <p:sp>
        <p:nvSpPr>
          <p:cNvPr id="16" name="Tab bar divider"/>
          <p:cNvSpPr/>
          <p:nvPr/>
        </p:nvSpPr>
        <p:spPr>
          <a:xfrm>
            <a:off x="640080" y="4041648"/>
            <a:ext cx="1920240" cy="0"/>
          </a:xfrm>
          <a:prstGeom prst="line">
            <a:avLst/>
          </a:prstGeom>
          <a:noFill/>
          <a:ln w="6350">
            <a:solidFill>
              <a:schemeClr val="accent6"/>
            </a:solidFill>
            <a:prstDash val="solid"/>
          </a:ln>
        </p:spPr>
      </p:sp>
      <p:pic>
        <p:nvPicPr>
          <p:cNvPr id="17" name="Image 0" descr="Home tab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4096512"/>
            <a:ext cx="182880" cy="182880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640080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Home</a:t>
            </a:r>
            <a:endParaRPr lang="en-US" sz="700" dirty="0"/>
          </a:p>
        </p:txBody>
      </p:sp>
      <p:pic>
        <p:nvPicPr>
          <p:cNvPr id="19" name="Image 1" descr="Tasks tab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4712" y="4096512"/>
            <a:ext cx="182880" cy="182880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024128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Tasks</a:t>
            </a:r>
            <a:endParaRPr lang="en-US" sz="700" dirty="0"/>
          </a:p>
        </p:txBody>
      </p:sp>
      <p:pic>
        <p:nvPicPr>
          <p:cNvPr id="21" name="Image 2" descr="Schedule tab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08760" y="4096512"/>
            <a:ext cx="182880" cy="182880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408176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Schedule</a:t>
            </a:r>
            <a:endParaRPr lang="en-US" sz="700" dirty="0"/>
          </a:p>
        </p:txBody>
      </p:sp>
      <p:pic>
        <p:nvPicPr>
          <p:cNvPr id="23" name="Image 3" descr="More tab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76856" y="4096512"/>
            <a:ext cx="182880" cy="182880"/>
          </a:xfrm>
          <a:prstGeom prst="rect">
            <a:avLst/>
          </a:prstGeom>
        </p:spPr>
      </p:pic>
      <p:sp>
        <p:nvSpPr>
          <p:cNvPr id="24" name="Text 18"/>
          <p:cNvSpPr txBox="1"/>
          <p:nvPr/>
        </p:nvSpPr>
        <p:spPr>
          <a:xfrm>
            <a:off x="2176272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dirty="0">
                <a:solidFill>
                  <a:schemeClr val="accent6"/>
                </a:solidFill>
              </a:rPr>
              <a:t>More</a:t>
            </a:r>
            <a:endParaRPr lang="en-US" sz="700" dirty="0"/>
          </a:p>
        </p:txBody>
      </p:sp>
      <p:pic>
        <p:nvPicPr>
          <p:cNvPr id="25" name="Image 4" descr="Messages tab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892808" y="4096512"/>
            <a:ext cx="182880" cy="182880"/>
          </a:xfrm>
          <a:prstGeom prst="rect">
            <a:avLst/>
          </a:prstGeom>
        </p:spPr>
      </p:pic>
      <p:sp>
        <p:nvSpPr>
          <p:cNvPr id="26" name="Text 19"/>
          <p:cNvSpPr txBox="1"/>
          <p:nvPr/>
        </p:nvSpPr>
        <p:spPr>
          <a:xfrm>
            <a:off x="1792224" y="4297680"/>
            <a:ext cx="384048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00" b="1" dirty="0">
                <a:solidFill>
                  <a:schemeClr val="accent1"/>
                </a:solidFill>
              </a:rPr>
              <a:t>Messages</a:t>
            </a:r>
            <a:endParaRPr lang="en-US" sz="700" dirty="0"/>
          </a:p>
        </p:txBody>
      </p:sp>
      <p:sp>
        <p:nvSpPr>
          <p:cNvPr id="27" name="Card"/>
          <p:cNvSpPr/>
          <p:nvPr/>
        </p:nvSpPr>
        <p:spPr>
          <a:xfrm>
            <a:off x="3108960" y="914400"/>
            <a:ext cx="2697480" cy="365760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28" name="Icon tile MdForum"/>
          <p:cNvSpPr/>
          <p:nvPr/>
        </p:nvSpPr>
        <p:spPr>
          <a:xfrm>
            <a:off x="3291840" y="10972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9" name="Image 5" descr="Forum ico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382366" y="1187806"/>
            <a:ext cx="230429" cy="230429"/>
          </a:xfrm>
          <a:prstGeom prst="rect">
            <a:avLst/>
          </a:prstGeom>
        </p:spPr>
      </p:pic>
      <p:sp>
        <p:nvSpPr>
          <p:cNvPr id="30" name="Text 22"/>
          <p:cNvSpPr txBox="1"/>
          <p:nvPr/>
        </p:nvSpPr>
        <p:spPr>
          <a:xfrm>
            <a:off x="3840480" y="1097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Start or reply</a:t>
            </a:r>
            <a:endParaRPr lang="en-US" sz="1600" dirty="0"/>
          </a:p>
        </p:txBody>
      </p:sp>
      <p:sp>
        <p:nvSpPr>
          <p:cNvPr id="31" name="Text 23"/>
          <p:cNvSpPr txBox="1"/>
          <p:nvPr/>
        </p:nvSpPr>
        <p:spPr>
          <a:xfrm>
            <a:off x="3291840" y="164592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The inbox lists each conversation with a preview, time and unread count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message: Search colleagues, then tap a person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Type up to 4,000 characters and select Send</a:t>
            </a:r>
            <a:endParaRPr lang="en-US" sz="1400" dirty="0"/>
          </a:p>
        </p:txBody>
      </p:sp>
      <p:sp>
        <p:nvSpPr>
          <p:cNvPr id="32" name="Card"/>
          <p:cNvSpPr/>
          <p:nvPr/>
        </p:nvSpPr>
        <p:spPr>
          <a:xfrm>
            <a:off x="5989320" y="914400"/>
            <a:ext cx="2697480" cy="3657600"/>
          </a:xfrm>
          <a:prstGeom prst="roundRect">
            <a:avLst>
              <a:gd name="adj" fmla="val 2712"/>
            </a:avLst>
          </a:prstGeom>
          <a:solidFill>
            <a:schemeClr val="bg2"/>
          </a:solidFill>
          <a:ln/>
        </p:spPr>
      </p:sp>
      <p:sp>
        <p:nvSpPr>
          <p:cNvPr id="33" name="Icon tile MdVerticalAlignBottom"/>
          <p:cNvSpPr/>
          <p:nvPr/>
        </p:nvSpPr>
        <p:spPr>
          <a:xfrm>
            <a:off x="6172200" y="10972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34" name="Image 6" descr="VerticalAlignBottom icon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62726" y="1187806"/>
            <a:ext cx="230429" cy="230429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6720840" y="1097280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How chat behaves</a:t>
            </a:r>
            <a:endParaRPr lang="en-US" sz="1600" dirty="0"/>
          </a:p>
        </p:txBody>
      </p:sp>
      <p:sp>
        <p:nvSpPr>
          <p:cNvPr id="36" name="Text 27"/>
          <p:cNvSpPr txBox="1"/>
          <p:nvPr/>
        </p:nvSpPr>
        <p:spPr>
          <a:xfrm>
            <a:off x="6172200" y="1645920"/>
            <a:ext cx="2331720" cy="2788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Opens at the latest message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messages arrive every 15 seconds while it's open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Load earlier messages shows older ones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Only members can read a conversation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Announcements and notifications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4023360" cy="1828800"/>
          </a:xfrm>
          <a:prstGeom prst="roundRect">
            <a:avLst>
              <a:gd name="adj" fmla="val 4000"/>
            </a:avLst>
          </a:prstGeom>
          <a:solidFill>
            <a:schemeClr val="bg2"/>
          </a:solidFill>
          <a:ln/>
        </p:spPr>
      </p:sp>
      <p:sp>
        <p:nvSpPr>
          <p:cNvPr id="4" name="Icon tile MdCampaign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Campaign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Reading announcements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→ Announcements. Unread ones carry a New chip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Open one and select Acknowledge to confirm you've read it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3017520"/>
            <a:ext cx="4023360" cy="1554480"/>
          </a:xfrm>
          <a:prstGeom prst="roundRect">
            <a:avLst>
              <a:gd name="adj" fmla="val 4706"/>
            </a:avLst>
          </a:prstGeom>
          <a:solidFill>
            <a:schemeClr val="bg2"/>
          </a:solidFill>
          <a:ln/>
        </p:spPr>
      </p:sp>
      <p:sp>
        <p:nvSpPr>
          <p:cNvPr id="9" name="Icon tile MdNotifications"/>
          <p:cNvSpPr/>
          <p:nvPr/>
        </p:nvSpPr>
        <p:spPr>
          <a:xfrm>
            <a:off x="640080" y="320040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Notifications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6" y="329092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32004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Notifications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749040"/>
            <a:ext cx="36576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More → Notifications. Tap an item to open what it's about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Mark all read clears the unread count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Publishing (with permission)</a:t>
            </a:r>
            <a:endParaRPr lang="en-US" sz="1600" dirty="0"/>
          </a:p>
        </p:txBody>
      </p:sp>
      <p:sp>
        <p:nvSpPr>
          <p:cNvPr id="15" name="Status Draft"/>
          <p:cNvSpPr/>
          <p:nvPr/>
        </p:nvSpPr>
        <p:spPr>
          <a:xfrm>
            <a:off x="4846320" y="1645920"/>
            <a:ext cx="1024128" cy="36576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6" name="Text 12"/>
          <p:cNvSpPr txBox="1"/>
          <p:nvPr/>
        </p:nvSpPr>
        <p:spPr>
          <a:xfrm>
            <a:off x="4846320" y="16459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Draft</a:t>
            </a:r>
            <a:endParaRPr lang="en-US" sz="1100" dirty="0"/>
          </a:p>
        </p:txBody>
      </p:sp>
      <p:sp>
        <p:nvSpPr>
          <p:cNvPr id="17" name="Arrow"/>
          <p:cNvSpPr/>
          <p:nvPr/>
        </p:nvSpPr>
        <p:spPr>
          <a:xfrm>
            <a:off x="5925312" y="1755648"/>
            <a:ext cx="164592" cy="14630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8" name="Status Published"/>
          <p:cNvSpPr/>
          <p:nvPr/>
        </p:nvSpPr>
        <p:spPr>
          <a:xfrm>
            <a:off x="6144768" y="164592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DCF3E2"/>
          </a:solidFill>
          <a:ln/>
        </p:spPr>
      </p:sp>
      <p:sp>
        <p:nvSpPr>
          <p:cNvPr id="19" name="Text 15"/>
          <p:cNvSpPr txBox="1"/>
          <p:nvPr/>
        </p:nvSpPr>
        <p:spPr>
          <a:xfrm>
            <a:off x="6144768" y="16459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Published</a:t>
            </a:r>
            <a:endParaRPr lang="en-US" sz="1100" dirty="0"/>
          </a:p>
        </p:txBody>
      </p:sp>
      <p:sp>
        <p:nvSpPr>
          <p:cNvPr id="20" name="Arrow"/>
          <p:cNvSpPr/>
          <p:nvPr/>
        </p:nvSpPr>
        <p:spPr>
          <a:xfrm>
            <a:off x="7223760" y="1755648"/>
            <a:ext cx="164592" cy="14630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21" name="Status Archived"/>
          <p:cNvSpPr/>
          <p:nvPr/>
        </p:nvSpPr>
        <p:spPr>
          <a:xfrm>
            <a:off x="7443216" y="1645920"/>
            <a:ext cx="1024128" cy="365760"/>
          </a:xfrm>
          <a:prstGeom prst="roundRect">
            <a:avLst>
              <a:gd name="adj" fmla="val 50000"/>
            </a:avLst>
          </a:prstGeom>
          <a:solidFill>
            <a:srgbClr val="E3E1EC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7443216" y="1645920"/>
            <a:ext cx="10241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Archived</a:t>
            </a:r>
            <a:endParaRPr lang="en-US" sz="1100" dirty="0"/>
          </a:p>
        </p:txBody>
      </p:sp>
      <p:sp>
        <p:nvSpPr>
          <p:cNvPr id="23" name="Text 19"/>
          <p:cNvSpPr txBox="1"/>
          <p:nvPr/>
        </p:nvSpPr>
        <p:spPr>
          <a:xfrm>
            <a:off x="4846320" y="2194560"/>
            <a:ext cx="3657600" cy="2286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Manage announcements → New announcement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a title and text, and choose who sees it: everyone, or selected departments or teams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Save draft, then Publish. It can't be edited once published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The published view shows how many people acknowledged it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Leave: request time off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1885950" cy="196596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/>
        </p:spPr>
      </p:sp>
      <p:sp>
        <p:nvSpPr>
          <p:cNvPr id="4" name="Step number"/>
          <p:cNvSpPr/>
          <p:nvPr/>
        </p:nvSpPr>
        <p:spPr>
          <a:xfrm>
            <a:off x="59436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943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645920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Check balances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6116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More → Leave shows this year's balance per type: used and pending.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2571750" y="1051560"/>
            <a:ext cx="1885950" cy="196596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/>
        </p:spPr>
      </p:sp>
      <p:sp>
        <p:nvSpPr>
          <p:cNvPr id="9" name="Step number"/>
          <p:cNvSpPr/>
          <p:nvPr/>
        </p:nvSpPr>
        <p:spPr>
          <a:xfrm>
            <a:off x="270891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270891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2</a:t>
            </a:r>
            <a:endParaRPr lang="en-US" sz="1400" dirty="0"/>
          </a:p>
        </p:txBody>
      </p:sp>
      <p:sp>
        <p:nvSpPr>
          <p:cNvPr id="11" name="Text 9"/>
          <p:cNvSpPr txBox="1"/>
          <p:nvPr/>
        </p:nvSpPr>
        <p:spPr>
          <a:xfrm>
            <a:off x="2708910" y="1645920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Request leave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2708910" y="1965960"/>
            <a:ext cx="16116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the type, first and last day (not in the past) and a reason.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4686300" y="1051560"/>
            <a:ext cx="1885950" cy="196596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/>
        </p:spPr>
      </p:sp>
      <p:sp>
        <p:nvSpPr>
          <p:cNvPr id="14" name="Step number"/>
          <p:cNvSpPr/>
          <p:nvPr/>
        </p:nvSpPr>
        <p:spPr>
          <a:xfrm>
            <a:off x="482346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82346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3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4823460" y="1645920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Send request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4823460" y="1965960"/>
            <a:ext cx="16116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It shows as Pending. Each request keeps a History.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6800850" y="1051560"/>
            <a:ext cx="1885950" cy="1965960"/>
          </a:xfrm>
          <a:prstGeom prst="roundRect">
            <a:avLst>
              <a:gd name="adj" fmla="val 3879"/>
            </a:avLst>
          </a:prstGeom>
          <a:solidFill>
            <a:schemeClr val="bg2"/>
          </a:solidFill>
          <a:ln/>
        </p:spPr>
      </p:sp>
      <p:sp>
        <p:nvSpPr>
          <p:cNvPr id="19" name="Step number"/>
          <p:cNvSpPr/>
          <p:nvPr/>
        </p:nvSpPr>
        <p:spPr>
          <a:xfrm>
            <a:off x="6938010" y="1188720"/>
            <a:ext cx="365760" cy="36576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6938010" y="118872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chemeClr val="bg1"/>
                </a:solidFill>
              </a:rPr>
              <a:t>4</a:t>
            </a:r>
            <a:endParaRPr lang="en-US" sz="1400" dirty="0"/>
          </a:p>
        </p:txBody>
      </p:sp>
      <p:sp>
        <p:nvSpPr>
          <p:cNvPr id="21" name="Text 19"/>
          <p:cNvSpPr txBox="1"/>
          <p:nvPr/>
        </p:nvSpPr>
        <p:spPr>
          <a:xfrm>
            <a:off x="6938010" y="1645920"/>
            <a:ext cx="161163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chemeClr val="tx2"/>
                </a:solidFill>
              </a:rPr>
              <a:t>Cancel if needed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938010" y="1965960"/>
            <a:ext cx="161163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While pending, or approved but not started. Keep it backs out.</a:t>
            </a:r>
            <a:endParaRPr lang="en-US" sz="1300" dirty="0"/>
          </a:p>
        </p:txBody>
      </p:sp>
      <p:sp>
        <p:nvSpPr>
          <p:cNvPr id="23" name="Card"/>
          <p:cNvSpPr/>
          <p:nvPr/>
        </p:nvSpPr>
        <p:spPr>
          <a:xfrm>
            <a:off x="457200" y="3200400"/>
            <a:ext cx="8229600" cy="1371600"/>
          </a:xfrm>
          <a:prstGeom prst="roundRect">
            <a:avLst>
              <a:gd name="adj" fmla="val 5333"/>
            </a:avLst>
          </a:prstGeom>
          <a:solidFill>
            <a:schemeClr val="accent2"/>
          </a:solidFill>
          <a:ln/>
        </p:spPr>
      </p:sp>
      <p:sp>
        <p:nvSpPr>
          <p:cNvPr id="24" name="Icon tile MdSupervisorAccount"/>
          <p:cNvSpPr/>
          <p:nvPr/>
        </p:nvSpPr>
        <p:spPr>
          <a:xfrm>
            <a:off x="640080" y="3383280"/>
            <a:ext cx="457200" cy="457200"/>
          </a:xfrm>
          <a:prstGeom prst="roundRect">
            <a:avLst>
              <a:gd name="adj" fmla="val 20000"/>
            </a:avLst>
          </a:prstGeom>
          <a:solidFill>
            <a:schemeClr val="accent1"/>
          </a:solidFill>
          <a:ln/>
        </p:spPr>
      </p:sp>
      <p:pic>
        <p:nvPicPr>
          <p:cNvPr id="25" name="Image 0" descr="SupervisorAccou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0664" y="3483864"/>
            <a:ext cx="256032" cy="256032"/>
          </a:xfrm>
          <a:prstGeom prst="rect">
            <a:avLst/>
          </a:prstGeom>
        </p:spPr>
      </p:pic>
      <p:sp>
        <p:nvSpPr>
          <p:cNvPr id="26" name="Text 23"/>
          <p:cNvSpPr txBox="1"/>
          <p:nvPr/>
        </p:nvSpPr>
        <p:spPr>
          <a:xfrm>
            <a:off x="1280160" y="3337560"/>
            <a:ext cx="7223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For managers: Team requests</a:t>
            </a:r>
            <a:endParaRPr lang="en-US" sz="1600" dirty="0"/>
          </a:p>
        </p:txBody>
      </p:sp>
      <p:sp>
        <p:nvSpPr>
          <p:cNvPr id="27" name="Text 24"/>
          <p:cNvSpPr txBox="1"/>
          <p:nvPr/>
        </p:nvSpPr>
        <p:spPr>
          <a:xfrm>
            <a:off x="1280160" y="3703320"/>
            <a:ext cx="72237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The Team requests card shows how many are pending. Filter by Pending, Approved, Rejected or All. Approve (note optional) or Reject (reason required) after a confirmation step.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My status and work logs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Icon tile MdCircleNotifications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CircleNotification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 status</a:t>
            </a:r>
            <a:endParaRPr lang="en-US" sz="1600" dirty="0"/>
          </a:p>
        </p:txBody>
      </p:sp>
      <p:sp>
        <p:nvSpPr>
          <p:cNvPr id="7" name="Chip Available"/>
          <p:cNvSpPr/>
          <p:nvPr/>
        </p:nvSpPr>
        <p:spPr>
          <a:xfrm>
            <a:off x="640080" y="182880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DCF3E2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640080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Available</a:t>
            </a:r>
            <a:endParaRPr lang="en-US" sz="1000" dirty="0"/>
          </a:p>
        </p:txBody>
      </p:sp>
      <p:sp>
        <p:nvSpPr>
          <p:cNvPr id="9" name="Chip Busy"/>
          <p:cNvSpPr/>
          <p:nvPr/>
        </p:nvSpPr>
        <p:spPr>
          <a:xfrm>
            <a:off x="1874520" y="182880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1874520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Busy</a:t>
            </a:r>
            <a:endParaRPr lang="en-US" sz="1000" dirty="0"/>
          </a:p>
        </p:txBody>
      </p:sp>
      <p:sp>
        <p:nvSpPr>
          <p:cNvPr id="11" name="Chip In a meeting"/>
          <p:cNvSpPr/>
          <p:nvPr/>
        </p:nvSpPr>
        <p:spPr>
          <a:xfrm>
            <a:off x="3108960" y="182880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3108960" y="182880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In a meeting</a:t>
            </a:r>
            <a:endParaRPr lang="en-US" sz="1000" dirty="0"/>
          </a:p>
        </p:txBody>
      </p:sp>
      <p:sp>
        <p:nvSpPr>
          <p:cNvPr id="13" name="Chip In the field"/>
          <p:cNvSpPr/>
          <p:nvPr/>
        </p:nvSpPr>
        <p:spPr>
          <a:xfrm>
            <a:off x="640080" y="2194560"/>
            <a:ext cx="114300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In the field</a:t>
            </a:r>
            <a:endParaRPr lang="en-US" sz="1000" dirty="0"/>
          </a:p>
        </p:txBody>
      </p:sp>
      <p:sp>
        <p:nvSpPr>
          <p:cNvPr id="15" name="Chip Off duty"/>
          <p:cNvSpPr/>
          <p:nvPr/>
        </p:nvSpPr>
        <p:spPr>
          <a:xfrm>
            <a:off x="1874520" y="2194560"/>
            <a:ext cx="1143000" cy="274320"/>
          </a:xfrm>
          <a:prstGeom prst="roundRect">
            <a:avLst>
              <a:gd name="adj" fmla="val 50000"/>
            </a:avLst>
          </a:prstGeom>
          <a:solidFill>
            <a:srgbClr val="E3E1EC"/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1874520" y="2194560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6"/>
                </a:solidFill>
              </a:rPr>
              <a:t>Off duty</a:t>
            </a:r>
            <a:endParaRPr lang="en-US" sz="1000" dirty="0"/>
          </a:p>
        </p:txBody>
      </p:sp>
      <p:sp>
        <p:nvSpPr>
          <p:cNvPr id="17" name="Text 14"/>
          <p:cNvSpPr txBox="1"/>
          <p:nvPr/>
        </p:nvSpPr>
        <p:spPr>
          <a:xfrm>
            <a:off x="640080" y="269748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More → My status → Change status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Off duty means not working right now. It isn't leave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Check-ins are made from the phone app, not the web</a:t>
            </a:r>
            <a:endParaRPr lang="en-US" sz="1300" dirty="0"/>
          </a:p>
        </p:txBody>
      </p:sp>
      <p:sp>
        <p:nvSpPr>
          <p:cNvPr id="18" name="Card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9" name="Icon tile MdTimer"/>
          <p:cNvSpPr/>
          <p:nvPr/>
        </p:nvSpPr>
        <p:spPr>
          <a:xfrm>
            <a:off x="48463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0" name="Image 1" descr="Timer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46" y="1324966"/>
            <a:ext cx="230429" cy="230429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539496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 work logs</a:t>
            </a:r>
            <a:endParaRPr lang="en-US" sz="1600" dirty="0"/>
          </a:p>
        </p:txBody>
      </p:sp>
      <p:sp>
        <p:nvSpPr>
          <p:cNvPr id="22" name="Text 18"/>
          <p:cNvSpPr txBox="1"/>
          <p:nvPr/>
        </p:nvSpPr>
        <p:spPr>
          <a:xfrm>
            <a:off x="484632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Use + (or Log work on a task) to record time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Pick what it was for: one of your open tasks or projects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Date: not in the future, at most a year back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Time: more than 0 and up to 24 hours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Logs are grouped by day; edit or delete your own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Service reports and incidents</a:t>
            </a:r>
            <a:endParaRPr lang="en-US" sz="2800" dirty="0"/>
          </a:p>
        </p:txBody>
      </p:sp>
      <p:sp>
        <p:nvSpPr>
          <p:cNvPr id="3" name="Text 1"/>
          <p:cNvSpPr txBox="1"/>
          <p:nvPr/>
        </p:nvSpPr>
        <p:spPr>
          <a:xfrm>
            <a:off x="457200" y="960120"/>
            <a:ext cx="8229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accent6"/>
                </a:solidFill>
              </a:rPr>
              <a:t>More → Reports, then switch between Service reports and Incidents.</a:t>
            </a:r>
            <a:endParaRPr lang="en-US" sz="1400" dirty="0"/>
          </a:p>
        </p:txBody>
      </p:sp>
      <p:sp>
        <p:nvSpPr>
          <p:cNvPr id="4" name="Card"/>
          <p:cNvSpPr/>
          <p:nvPr/>
        </p:nvSpPr>
        <p:spPr>
          <a:xfrm>
            <a:off x="45720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5" name="Icon tile MdAssignment"/>
          <p:cNvSpPr/>
          <p:nvPr/>
        </p:nvSpPr>
        <p:spPr>
          <a:xfrm>
            <a:off x="640080" y="15544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6" name="Image 0" descr="Assignm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645006"/>
            <a:ext cx="230429" cy="230429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18872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Service report</a:t>
            </a:r>
            <a:endParaRPr lang="en-US" sz="1600" dirty="0"/>
          </a:p>
        </p:txBody>
      </p:sp>
      <p:sp>
        <p:nvSpPr>
          <p:cNvPr id="8" name="Status Draft"/>
          <p:cNvSpPr/>
          <p:nvPr/>
        </p:nvSpPr>
        <p:spPr>
          <a:xfrm>
            <a:off x="640080" y="2148840"/>
            <a:ext cx="1024128" cy="329184"/>
          </a:xfrm>
          <a:prstGeom prst="roundRect">
            <a:avLst>
              <a:gd name="adj" fmla="val 55556"/>
            </a:avLst>
          </a:prstGeom>
          <a:solidFill>
            <a:schemeClr val="accent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40080" y="214884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Draft</a:t>
            </a:r>
            <a:endParaRPr lang="en-US" sz="1100" dirty="0"/>
          </a:p>
        </p:txBody>
      </p:sp>
      <p:sp>
        <p:nvSpPr>
          <p:cNvPr id="10" name="Arrow"/>
          <p:cNvSpPr/>
          <p:nvPr/>
        </p:nvSpPr>
        <p:spPr>
          <a:xfrm>
            <a:off x="1719072" y="2240280"/>
            <a:ext cx="164592" cy="14630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1" name="Status Submitted"/>
          <p:cNvSpPr/>
          <p:nvPr/>
        </p:nvSpPr>
        <p:spPr>
          <a:xfrm>
            <a:off x="1938528" y="2148840"/>
            <a:ext cx="1024128" cy="329184"/>
          </a:xfrm>
          <a:prstGeom prst="roundRect">
            <a:avLst>
              <a:gd name="adj" fmla="val 55556"/>
            </a:avLst>
          </a:prstGeom>
          <a:solidFill>
            <a:schemeClr val="accent2"/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1938528" y="214884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tx2"/>
                </a:solidFill>
              </a:rPr>
              <a:t>Submitted</a:t>
            </a:r>
            <a:endParaRPr lang="en-US" sz="1100" dirty="0"/>
          </a:p>
        </p:txBody>
      </p:sp>
      <p:sp>
        <p:nvSpPr>
          <p:cNvPr id="13" name="Arrow"/>
          <p:cNvSpPr/>
          <p:nvPr/>
        </p:nvSpPr>
        <p:spPr>
          <a:xfrm>
            <a:off x="3017520" y="2240280"/>
            <a:ext cx="164592" cy="146304"/>
          </a:xfrm>
          <a:prstGeom prst="rightArrow">
            <a:avLst/>
          </a:prstGeom>
          <a:solidFill>
            <a:schemeClr val="accent6"/>
          </a:solidFill>
          <a:ln/>
        </p:spPr>
      </p:sp>
      <p:sp>
        <p:nvSpPr>
          <p:cNvPr id="14" name="Status Reviewed"/>
          <p:cNvSpPr/>
          <p:nvPr/>
        </p:nvSpPr>
        <p:spPr>
          <a:xfrm>
            <a:off x="3236976" y="2148840"/>
            <a:ext cx="1024128" cy="329184"/>
          </a:xfrm>
          <a:prstGeom prst="roundRect">
            <a:avLst>
              <a:gd name="adj" fmla="val 55556"/>
            </a:avLst>
          </a:prstGeom>
          <a:solidFill>
            <a:srgbClr val="DCF3E2"/>
          </a:solidFill>
          <a:ln/>
        </p:spPr>
      </p:sp>
      <p:sp>
        <p:nvSpPr>
          <p:cNvPr id="15" name="Text 12"/>
          <p:cNvSpPr txBox="1"/>
          <p:nvPr/>
        </p:nvSpPr>
        <p:spPr>
          <a:xfrm>
            <a:off x="3236976" y="2148840"/>
            <a:ext cx="1024128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Reviewed</a:t>
            </a:r>
            <a:endParaRPr lang="en-US" sz="1100" dirty="0"/>
          </a:p>
        </p:txBody>
      </p:sp>
      <p:sp>
        <p:nvSpPr>
          <p:cNvPr id="16" name="Text 13"/>
          <p:cNvSpPr txBox="1"/>
          <p:nvPr/>
        </p:nvSpPr>
        <p:spPr>
          <a:xfrm>
            <a:off x="64008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Pick the client, service date and work performed, then Save draft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Add photos or files, then Submit. It can't be edited after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If it's rejected, Return to draft, fix it and resubmit</a:t>
            </a:r>
            <a:endParaRPr lang="en-US" sz="1300" dirty="0"/>
          </a:p>
        </p:txBody>
      </p:sp>
      <p:sp>
        <p:nvSpPr>
          <p:cNvPr id="17" name="Card"/>
          <p:cNvSpPr/>
          <p:nvPr/>
        </p:nvSpPr>
        <p:spPr>
          <a:xfrm>
            <a:off x="4663440" y="1371600"/>
            <a:ext cx="4023360" cy="3200400"/>
          </a:xfrm>
          <a:prstGeom prst="roundRect">
            <a:avLst>
              <a:gd name="adj" fmla="val 2286"/>
            </a:avLst>
          </a:prstGeom>
          <a:solidFill>
            <a:schemeClr val="bg2"/>
          </a:solidFill>
          <a:ln/>
        </p:spPr>
      </p:sp>
      <p:sp>
        <p:nvSpPr>
          <p:cNvPr id="18" name="Icon tile MdReportProblem"/>
          <p:cNvSpPr/>
          <p:nvPr/>
        </p:nvSpPr>
        <p:spPr>
          <a:xfrm>
            <a:off x="4846320" y="155448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9" name="Image 1" descr="ReportProble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46" y="1645006"/>
            <a:ext cx="230429" cy="230429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5394960" y="155448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Report an incident</a:t>
            </a:r>
            <a:endParaRPr lang="en-US" sz="1600" dirty="0"/>
          </a:p>
        </p:txBody>
      </p:sp>
      <p:sp>
        <p:nvSpPr>
          <p:cNvPr id="21" name="Chip Low"/>
          <p:cNvSpPr/>
          <p:nvPr/>
        </p:nvSpPr>
        <p:spPr>
          <a:xfrm>
            <a:off x="4846320" y="2176272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/>
        </p:spPr>
      </p:sp>
      <p:sp>
        <p:nvSpPr>
          <p:cNvPr id="22" name="Text 18"/>
          <p:cNvSpPr txBox="1"/>
          <p:nvPr/>
        </p:nvSpPr>
        <p:spPr>
          <a:xfrm>
            <a:off x="484632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tx2"/>
                </a:solidFill>
              </a:rPr>
              <a:t>Low</a:t>
            </a:r>
            <a:endParaRPr lang="en-US" sz="1000" dirty="0"/>
          </a:p>
        </p:txBody>
      </p:sp>
      <p:sp>
        <p:nvSpPr>
          <p:cNvPr id="23" name="Chip Medium"/>
          <p:cNvSpPr/>
          <p:nvPr/>
        </p:nvSpPr>
        <p:spPr>
          <a:xfrm>
            <a:off x="5760720" y="217627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DEA6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576072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Medium</a:t>
            </a:r>
            <a:endParaRPr lang="en-US" sz="1000" dirty="0"/>
          </a:p>
        </p:txBody>
      </p:sp>
      <p:sp>
        <p:nvSpPr>
          <p:cNvPr id="25" name="Chip High"/>
          <p:cNvSpPr/>
          <p:nvPr/>
        </p:nvSpPr>
        <p:spPr>
          <a:xfrm>
            <a:off x="6675120" y="2176272"/>
            <a:ext cx="822960" cy="274320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</p:sp>
      <p:sp>
        <p:nvSpPr>
          <p:cNvPr id="26" name="Text 22"/>
          <p:cNvSpPr txBox="1"/>
          <p:nvPr/>
        </p:nvSpPr>
        <p:spPr>
          <a:xfrm>
            <a:off x="667512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High</a:t>
            </a:r>
            <a:endParaRPr lang="en-US" sz="1000" dirty="0"/>
          </a:p>
        </p:txBody>
      </p:sp>
      <p:sp>
        <p:nvSpPr>
          <p:cNvPr id="27" name="Chip Critical"/>
          <p:cNvSpPr/>
          <p:nvPr/>
        </p:nvSpPr>
        <p:spPr>
          <a:xfrm>
            <a:off x="7589520" y="2176272"/>
            <a:ext cx="82296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8" name="Text 24"/>
          <p:cNvSpPr txBox="1"/>
          <p:nvPr/>
        </p:nvSpPr>
        <p:spPr>
          <a:xfrm>
            <a:off x="7589520" y="2176272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Critical</a:t>
            </a:r>
            <a:endParaRPr lang="en-US" sz="1000" dirty="0"/>
          </a:p>
        </p:txBody>
      </p:sp>
      <p:sp>
        <p:nvSpPr>
          <p:cNvPr id="29" name="Text 25"/>
          <p:cNvSpPr txBox="1"/>
          <p:nvPr/>
        </p:nvSpPr>
        <p:spPr>
          <a:xfrm>
            <a:off x="4846320" y="2651760"/>
            <a:ext cx="3657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Choose a type and severity, and when and where it happened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Describe what happened and any immediate action, then Report incident</a:t>
            </a:r>
            <a:endParaRPr lang="en-US" sz="1300" dirty="0"/>
          </a:p>
          <a:p>
            <a:pPr marL="177800" indent="-177800">
              <a:spcAft>
                <a:spcPts val="6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Files: JPEG, PNG or PDF, up to 10 MB each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People, projects and clients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4" name="Icon tile MdContacts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Contac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Staff directory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by name to see position, department, team, manager, email and phone, with Copy email and Copy phone.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663440" y="105156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9" name="Icon tile MdAccountCircle"/>
          <p:cNvSpPr/>
          <p:nvPr/>
        </p:nvSpPr>
        <p:spPr>
          <a:xfrm>
            <a:off x="48463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AccountCircl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36846" y="132496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539496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My profile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4846320" y="178308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Your work and employment details, sign-in email and role. Change password lives here.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5720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4" name="Icon tile MdFolderOpen"/>
          <p:cNvSpPr/>
          <p:nvPr/>
        </p:nvSpPr>
        <p:spPr>
          <a:xfrm>
            <a:off x="640080" y="301752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5" name="Image 2" descr="FolderOpen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0606" y="3108046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118872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Projects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40080" y="3566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Mine or All (with permission). See client, dates, members and milestones. Leads manage milestones.</a:t>
            </a:r>
            <a:endParaRPr lang="en-US" sz="1400" dirty="0"/>
          </a:p>
        </p:txBody>
      </p:sp>
      <p:sp>
        <p:nvSpPr>
          <p:cNvPr id="18" name="Card"/>
          <p:cNvSpPr/>
          <p:nvPr/>
        </p:nvSpPr>
        <p:spPr>
          <a:xfrm>
            <a:off x="4663440" y="2834640"/>
            <a:ext cx="4023360" cy="1645920"/>
          </a:xfrm>
          <a:prstGeom prst="roundRect">
            <a:avLst>
              <a:gd name="adj" fmla="val 4444"/>
            </a:avLst>
          </a:prstGeom>
          <a:solidFill>
            <a:schemeClr val="bg2"/>
          </a:solidFill>
          <a:ln/>
        </p:spPr>
      </p:sp>
      <p:sp>
        <p:nvSpPr>
          <p:cNvPr id="19" name="Icon tile MdBusiness"/>
          <p:cNvSpPr/>
          <p:nvPr/>
        </p:nvSpPr>
        <p:spPr>
          <a:xfrm>
            <a:off x="4846320" y="301752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20" name="Image 3" descr="Business ico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36846" y="3108046"/>
            <a:ext cx="230429" cy="230429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5394960" y="301752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Clients</a:t>
            </a:r>
            <a:endParaRPr lang="en-US" sz="1600" dirty="0"/>
          </a:p>
        </p:txBody>
      </p:sp>
      <p:sp>
        <p:nvSpPr>
          <p:cNvPr id="22" name="Text 16"/>
          <p:cNvSpPr txBox="1"/>
          <p:nvPr/>
        </p:nvSpPr>
        <p:spPr>
          <a:xfrm>
            <a:off x="4846320" y="3566160"/>
            <a:ext cx="3657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Search clients for email, phone, website, address and contacts. Editing needs permission.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Admin Backoffice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For Administrators: run the organisation from /admin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The dashboard leads with what needs attention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2194560" cy="3520440"/>
          </a:xfrm>
          <a:prstGeom prst="roundRect">
            <a:avLst>
              <a:gd name="adj" fmla="val 3333"/>
            </a:avLst>
          </a:prstGeom>
          <a:solidFill>
            <a:schemeClr val="tx2"/>
          </a:solidFill>
          <a:ln/>
        </p:spPr>
      </p:sp>
      <p:sp>
        <p:nvSpPr>
          <p:cNvPr id="4" name="Active nav item"/>
          <p:cNvSpPr/>
          <p:nvPr/>
        </p:nvSpPr>
        <p:spPr>
          <a:xfrm>
            <a:off x="548640" y="1188720"/>
            <a:ext cx="2011680" cy="310896"/>
          </a:xfrm>
          <a:prstGeom prst="roundRect">
            <a:avLst>
              <a:gd name="adj" fmla="val 23529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1887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Dashboard</a:t>
            </a:r>
            <a:endParaRPr lang="en-US" sz="12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15544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People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202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Clients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2860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Work</a:t>
            </a:r>
            <a:endParaRPr lang="en-US" sz="120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265176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HR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685800" y="301752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Operations</a:t>
            </a:r>
            <a:endParaRPr lang="en-US" sz="1200" dirty="0"/>
          </a:p>
        </p:txBody>
      </p:sp>
      <p:sp>
        <p:nvSpPr>
          <p:cNvPr id="11" name="Text 9"/>
          <p:cNvSpPr txBox="1"/>
          <p:nvPr/>
        </p:nvSpPr>
        <p:spPr>
          <a:xfrm>
            <a:off x="685800" y="338328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Reports</a:t>
            </a:r>
            <a:endParaRPr lang="en-US" sz="1200" dirty="0"/>
          </a:p>
        </p:txBody>
      </p:sp>
      <p:sp>
        <p:nvSpPr>
          <p:cNvPr id="12" name="Text 10"/>
          <p:cNvSpPr txBox="1"/>
          <p:nvPr/>
        </p:nvSpPr>
        <p:spPr>
          <a:xfrm>
            <a:off x="685800" y="374904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Administration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685800" y="4114800"/>
            <a:ext cx="18288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chemeClr val="bg1"/>
                </a:solidFill>
              </a:rPr>
              <a:t>Staff portal</a:t>
            </a:r>
            <a:endParaRPr lang="en-US" sz="1200" dirty="0"/>
          </a:p>
        </p:txBody>
      </p:sp>
      <p:sp>
        <p:nvSpPr>
          <p:cNvPr id="14" name="Text 12"/>
          <p:cNvSpPr txBox="1"/>
          <p:nvPr/>
        </p:nvSpPr>
        <p:spPr>
          <a:xfrm>
            <a:off x="2880360" y="10515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Needs attention</a:t>
            </a:r>
            <a:endParaRPr lang="en-US" sz="1500" dirty="0"/>
          </a:p>
        </p:txBody>
      </p:sp>
      <p:sp>
        <p:nvSpPr>
          <p:cNvPr id="15" name="Card"/>
          <p:cNvSpPr/>
          <p:nvPr/>
        </p:nvSpPr>
        <p:spPr>
          <a:xfrm>
            <a:off x="2880360" y="14173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DEA6"/>
          </a:solidFill>
          <a:ln/>
        </p:spPr>
      </p:sp>
      <p:sp>
        <p:nvSpPr>
          <p:cNvPr id="16" name="Icon tile MdEventBusy"/>
          <p:cNvSpPr/>
          <p:nvPr/>
        </p:nvSpPr>
        <p:spPr>
          <a:xfrm>
            <a:off x="3017520" y="155448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pic>
        <p:nvPicPr>
          <p:cNvPr id="17" name="Image 0" descr="EventBusy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97987" y="1634947"/>
            <a:ext cx="204826" cy="204826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301752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Leave</a:t>
            </a:r>
            <a:endParaRPr lang="en-US" sz="1300" dirty="0"/>
          </a:p>
        </p:txBody>
      </p:sp>
      <p:sp>
        <p:nvSpPr>
          <p:cNvPr id="19" name="Text 16"/>
          <p:cNvSpPr txBox="1"/>
          <p:nvPr/>
        </p:nvSpPr>
        <p:spPr>
          <a:xfrm>
            <a:off x="301752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Requests waiting for a decision</a:t>
            </a:r>
            <a:endParaRPr lang="en-US" sz="1100" dirty="0"/>
          </a:p>
        </p:txBody>
      </p:sp>
      <p:sp>
        <p:nvSpPr>
          <p:cNvPr id="20" name="Card"/>
          <p:cNvSpPr/>
          <p:nvPr/>
        </p:nvSpPr>
        <p:spPr>
          <a:xfrm>
            <a:off x="4846320" y="14173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DEA6"/>
          </a:solidFill>
          <a:ln/>
        </p:spPr>
      </p:sp>
      <p:sp>
        <p:nvSpPr>
          <p:cNvPr id="21" name="Icon tile MdReportProblem"/>
          <p:cNvSpPr/>
          <p:nvPr/>
        </p:nvSpPr>
        <p:spPr>
          <a:xfrm>
            <a:off x="4983480" y="155448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pic>
        <p:nvPicPr>
          <p:cNvPr id="22" name="Image 1" descr="ReportProblem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63947" y="1634947"/>
            <a:ext cx="204826" cy="204826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498348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Open incidents</a:t>
            </a:r>
            <a:endParaRPr lang="en-US" sz="1300" dirty="0"/>
          </a:p>
        </p:txBody>
      </p:sp>
      <p:sp>
        <p:nvSpPr>
          <p:cNvPr id="24" name="Text 20"/>
          <p:cNvSpPr txBox="1"/>
          <p:nvPr/>
        </p:nvSpPr>
        <p:spPr>
          <a:xfrm>
            <a:off x="498348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Reported or under investigation</a:t>
            </a:r>
            <a:endParaRPr lang="en-US" sz="1100" dirty="0"/>
          </a:p>
        </p:txBody>
      </p:sp>
      <p:sp>
        <p:nvSpPr>
          <p:cNvPr id="25" name="Card"/>
          <p:cNvSpPr/>
          <p:nvPr/>
        </p:nvSpPr>
        <p:spPr>
          <a:xfrm>
            <a:off x="6812280" y="1417320"/>
            <a:ext cx="1828800" cy="1417320"/>
          </a:xfrm>
          <a:prstGeom prst="roundRect">
            <a:avLst>
              <a:gd name="adj" fmla="val 5161"/>
            </a:avLst>
          </a:prstGeom>
          <a:solidFill>
            <a:srgbClr val="FFDEA6"/>
          </a:solidFill>
          <a:ln/>
        </p:spPr>
      </p:sp>
      <p:sp>
        <p:nvSpPr>
          <p:cNvPr id="26" name="Icon tile MdAlarm"/>
          <p:cNvSpPr/>
          <p:nvPr/>
        </p:nvSpPr>
        <p:spPr>
          <a:xfrm>
            <a:off x="6949440" y="1554480"/>
            <a:ext cx="365760" cy="365760"/>
          </a:xfrm>
          <a:prstGeom prst="roundRect">
            <a:avLst>
              <a:gd name="adj" fmla="val 25000"/>
            </a:avLst>
          </a:prstGeom>
          <a:solidFill>
            <a:schemeClr val="accent2"/>
          </a:solidFill>
          <a:ln/>
        </p:spPr>
      </p:sp>
      <p:pic>
        <p:nvPicPr>
          <p:cNvPr id="27" name="Image 2" descr="Alarm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29907" y="1634947"/>
            <a:ext cx="204826" cy="204826"/>
          </a:xfrm>
          <a:prstGeom prst="rect">
            <a:avLst/>
          </a:prstGeom>
        </p:spPr>
      </p:pic>
      <p:sp>
        <p:nvSpPr>
          <p:cNvPr id="28" name="Text 23"/>
          <p:cNvSpPr txBox="1"/>
          <p:nvPr/>
        </p:nvSpPr>
        <p:spPr>
          <a:xfrm>
            <a:off x="6949440" y="2011680"/>
            <a:ext cx="1600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4"/>
                </a:solidFill>
              </a:rPr>
              <a:t>Overdue tasks</a:t>
            </a:r>
            <a:endParaRPr lang="en-US" sz="1300" dirty="0"/>
          </a:p>
        </p:txBody>
      </p:sp>
      <p:sp>
        <p:nvSpPr>
          <p:cNvPr id="29" name="Text 24"/>
          <p:cNvSpPr txBox="1"/>
          <p:nvPr/>
        </p:nvSpPr>
        <p:spPr>
          <a:xfrm>
            <a:off x="6949440" y="2286000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Opens the Tasks report, overdue only</a:t>
            </a:r>
            <a:endParaRPr lang="en-US" sz="1100" dirty="0"/>
          </a:p>
        </p:txBody>
      </p:sp>
      <p:sp>
        <p:nvSpPr>
          <p:cNvPr id="30" name="Text 25"/>
          <p:cNvSpPr txBox="1"/>
          <p:nvPr/>
        </p:nvSpPr>
        <p:spPr>
          <a:xfrm>
            <a:off x="2880360" y="301752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500" b="1" dirty="0">
                <a:solidFill>
                  <a:schemeClr val="tx2"/>
                </a:solidFill>
              </a:rPr>
              <a:t>Overview</a:t>
            </a:r>
            <a:endParaRPr lang="en-US" sz="1500" dirty="0"/>
          </a:p>
        </p:txBody>
      </p:sp>
      <p:sp>
        <p:nvSpPr>
          <p:cNvPr id="31" name="Text 26"/>
          <p:cNvSpPr txBox="1"/>
          <p:nvPr/>
        </p:nvSpPr>
        <p:spPr>
          <a:xfrm>
            <a:off x="2880360" y="3337560"/>
            <a:ext cx="58064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Pick a From / To period and select Show (This month resets it). Cards cover people, clients, projects, tasks, hours worked, leave, service reports, incidents and what's coming up.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People and HR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Icon tile MdBadge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Badg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Staff records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Search by name or employee number; filter by status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New staff record: person, employment, organisation, manager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Create or link a sign-in account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Delete only without history; otherwise set to Separated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324612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Icon tile MdAccountTree"/>
          <p:cNvSpPr/>
          <p:nvPr/>
        </p:nvSpPr>
        <p:spPr>
          <a:xfrm>
            <a:off x="342900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AccountTree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32496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Organisation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Tabs for departments, teams and positions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Add, edit or remove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Anything in use is set to Inactive instead of removed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603504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4" name="Icon tile MdBeachAccess"/>
          <p:cNvSpPr/>
          <p:nvPr/>
        </p:nvSpPr>
        <p:spPr>
          <a:xfrm>
            <a:off x="62179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5" name="Image 2" descr="BeachAccess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1324966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Leave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Leave requests: filter, approve, reject or cancel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Request leave for someone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Leave types: paid types have a yearly allowance</a:t>
            </a:r>
            <a:endParaRPr lang="en-US" sz="14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400" dirty="0">
                <a:solidFill>
                  <a:schemeClr val="tx1"/>
                </a:solidFill>
              </a:rPr>
              <a:t>Leave balances: set each person's allowance per year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Work and operations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402336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Icon tile MdTimer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Timer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Work logs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Filter by person and dates. Correct the time or Remove an entry.</a:t>
            </a:r>
            <a:endParaRPr lang="en-US" sz="1400" dirty="0"/>
          </a:p>
        </p:txBody>
      </p:sp>
      <p:sp>
        <p:nvSpPr>
          <p:cNvPr id="8" name="Card"/>
          <p:cNvSpPr/>
          <p:nvPr/>
        </p:nvSpPr>
        <p:spPr>
          <a:xfrm>
            <a:off x="457200" y="2788920"/>
            <a:ext cx="4023360" cy="1783080"/>
          </a:xfrm>
          <a:prstGeom prst="roundRect">
            <a:avLst>
              <a:gd name="adj" fmla="val 4103"/>
            </a:avLst>
          </a:prstGeom>
          <a:solidFill>
            <a:schemeClr val="bg2"/>
          </a:solidFill>
          <a:ln/>
        </p:spPr>
      </p:sp>
      <p:sp>
        <p:nvSpPr>
          <p:cNvPr id="9" name="Icon tile MdEvent"/>
          <p:cNvSpPr/>
          <p:nvPr/>
        </p:nvSpPr>
        <p:spPr>
          <a:xfrm>
            <a:off x="640080" y="297180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Even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0606" y="306232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1188720" y="297180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Schedule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640080" y="3520440"/>
            <a:ext cx="3657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dirty="0">
                <a:solidFill>
                  <a:schemeClr val="tx1"/>
                </a:solidFill>
              </a:rPr>
              <a:t>New schedule entry: activity type, all day or times, optional project and participants. Deleting removes it from everyone's schedule.</a:t>
            </a:r>
            <a:endParaRPr lang="en-US" sz="1400" dirty="0"/>
          </a:p>
        </p:txBody>
      </p:sp>
      <p:sp>
        <p:nvSpPr>
          <p:cNvPr id="13" name="Card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14" name="Text 10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Reviewing reports and incidents</a:t>
            </a:r>
            <a:endParaRPr lang="en-US" sz="1600" dirty="0"/>
          </a:p>
        </p:txBody>
      </p:sp>
      <p:sp>
        <p:nvSpPr>
          <p:cNvPr id="15" name="Text 11"/>
          <p:cNvSpPr txBox="1"/>
          <p:nvPr/>
        </p:nvSpPr>
        <p:spPr>
          <a:xfrm>
            <a:off x="4846320" y="160020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Service reports: Mark reviewed, or Reject with a reason.</a:t>
            </a:r>
            <a:endParaRPr lang="en-US" sz="1300" dirty="0"/>
          </a:p>
        </p:txBody>
      </p:sp>
      <p:sp>
        <p:nvSpPr>
          <p:cNvPr id="16" name="Text 12"/>
          <p:cNvSpPr txBox="1"/>
          <p:nvPr/>
        </p:nvSpPr>
        <p:spPr>
          <a:xfrm>
            <a:off x="4846320" y="21945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chemeClr val="accent6"/>
                </a:solidFill>
              </a:rPr>
              <a:t>Incident lifecycle</a:t>
            </a:r>
            <a:endParaRPr lang="en-US" sz="1300" dirty="0"/>
          </a:p>
        </p:txBody>
      </p:sp>
      <p:sp>
        <p:nvSpPr>
          <p:cNvPr id="17" name="Chip Reported"/>
          <p:cNvSpPr/>
          <p:nvPr/>
        </p:nvSpPr>
        <p:spPr>
          <a:xfrm>
            <a:off x="4846320" y="25146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DAD6"/>
          </a:solidFill>
          <a:ln/>
        </p:spPr>
      </p:sp>
      <p:sp>
        <p:nvSpPr>
          <p:cNvPr id="18" name="Text 14"/>
          <p:cNvSpPr txBox="1"/>
          <p:nvPr/>
        </p:nvSpPr>
        <p:spPr>
          <a:xfrm>
            <a:off x="4846320" y="25146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5"/>
                </a:solidFill>
              </a:rPr>
              <a:t>Reported</a:t>
            </a:r>
            <a:endParaRPr lang="en-US" sz="1100" dirty="0"/>
          </a:p>
        </p:txBody>
      </p:sp>
      <p:sp>
        <p:nvSpPr>
          <p:cNvPr id="19" name="Arrow"/>
          <p:cNvSpPr/>
          <p:nvPr/>
        </p:nvSpPr>
        <p:spPr>
          <a:xfrm>
            <a:off x="5687568" y="2862072"/>
            <a:ext cx="146304" cy="9144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0" name="Chip Under investigation"/>
          <p:cNvSpPr/>
          <p:nvPr/>
        </p:nvSpPr>
        <p:spPr>
          <a:xfrm>
            <a:off x="4846320" y="29718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FFDEA6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846320" y="29718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Under investigation</a:t>
            </a:r>
            <a:endParaRPr lang="en-US" sz="1100" dirty="0"/>
          </a:p>
        </p:txBody>
      </p:sp>
      <p:sp>
        <p:nvSpPr>
          <p:cNvPr id="22" name="Arrow"/>
          <p:cNvSpPr/>
          <p:nvPr/>
        </p:nvSpPr>
        <p:spPr>
          <a:xfrm>
            <a:off x="5687568" y="3319272"/>
            <a:ext cx="146304" cy="9144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3" name="Chip Resolved"/>
          <p:cNvSpPr/>
          <p:nvPr/>
        </p:nvSpPr>
        <p:spPr>
          <a:xfrm>
            <a:off x="4846320" y="34290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DCF3E2"/>
          </a:solidFill>
          <a:ln/>
        </p:spPr>
      </p:sp>
      <p:sp>
        <p:nvSpPr>
          <p:cNvPr id="24" name="Text 20"/>
          <p:cNvSpPr txBox="1"/>
          <p:nvPr/>
        </p:nvSpPr>
        <p:spPr>
          <a:xfrm>
            <a:off x="4846320" y="34290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3"/>
                </a:solidFill>
              </a:rPr>
              <a:t>Resolved</a:t>
            </a:r>
            <a:endParaRPr lang="en-US" sz="1100" dirty="0"/>
          </a:p>
        </p:txBody>
      </p:sp>
      <p:sp>
        <p:nvSpPr>
          <p:cNvPr id="25" name="Arrow"/>
          <p:cNvSpPr/>
          <p:nvPr/>
        </p:nvSpPr>
        <p:spPr>
          <a:xfrm>
            <a:off x="5687568" y="3776472"/>
            <a:ext cx="146304" cy="91440"/>
          </a:xfrm>
          <a:prstGeom prst="downArrow">
            <a:avLst/>
          </a:prstGeom>
          <a:solidFill>
            <a:schemeClr val="accent6"/>
          </a:solidFill>
          <a:ln/>
        </p:spPr>
      </p:sp>
      <p:sp>
        <p:nvSpPr>
          <p:cNvPr id="26" name="Chip Closed"/>
          <p:cNvSpPr/>
          <p:nvPr/>
        </p:nvSpPr>
        <p:spPr>
          <a:xfrm>
            <a:off x="4846320" y="3886200"/>
            <a:ext cx="1828800" cy="329184"/>
          </a:xfrm>
          <a:prstGeom prst="roundRect">
            <a:avLst>
              <a:gd name="adj" fmla="val 50000"/>
            </a:avLst>
          </a:prstGeom>
          <a:solidFill>
            <a:srgbClr val="E3E1EC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4846320" y="3886200"/>
            <a:ext cx="1828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Closed</a:t>
            </a:r>
            <a:endParaRPr lang="en-US" sz="1100" dirty="0"/>
          </a:p>
        </p:txBody>
      </p:sp>
      <p:sp>
        <p:nvSpPr>
          <p:cNvPr id="28" name="Text 24"/>
          <p:cNvSpPr txBox="1"/>
          <p:nvPr/>
        </p:nvSpPr>
        <p:spPr>
          <a:xfrm>
            <a:off x="6812280" y="2514600"/>
            <a:ext cx="17373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tx1"/>
                </a:solidFill>
              </a:rPr>
              <a:t>Assign or Reassign at any stage. Reopen brings a closed incident back.</a:t>
            </a:r>
            <a:endParaRPr lang="en-US" sz="12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Seven reports, sortable and exportable</a:t>
            </a:r>
            <a:endParaRPr lang="en-US" sz="2800" dirty="0"/>
          </a:p>
        </p:txBody>
      </p:sp>
      <p:graphicFrame>
        <p:nvGraphicFramePr>
          <p:cNvPr id="2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051560"/>
          <a:ext cx="5394960" cy="914400"/>
        </p:xfrm>
        <a:graphic>
          <a:graphicData uri="http://schemas.openxmlformats.org/drawingml/2006/table">
            <a:tbl>
              <a:tblPr/>
              <a:tblGrid>
                <a:gridCol w="1371600"/>
                <a:gridCol w="2286000"/>
                <a:gridCol w="173736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Report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Filters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57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FFFFFF"/>
                          </a:solidFill>
                        </a:rPr>
                        <a:t>Sort by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257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</a:rPr>
                        <a:t>Staff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Name, Employee no.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</a:rPr>
                        <a:t>Projects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Project, Target end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</a:rPr>
                        <a:t>Tasks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Status, Priority, Overdue only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Task, Due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</a:rPr>
                        <a:t>Work logs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From, To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Date, Time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</a:rPr>
                        <a:t>Leave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From, To,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Dates, Days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</a:rPr>
                        <a:t>Service reports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From, To, Status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Date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b="1" dirty="0">
                          <a:solidFill>
                            <a:srgbClr val="1B1B21"/>
                          </a:solidFill>
                        </a:rPr>
                        <a:t>Incidents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From, To, Status, Severity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200" dirty="0">
                          <a:solidFill>
                            <a:srgbClr val="1B1B21"/>
                          </a:solidFill>
                        </a:rPr>
                        <a:t>When</a:t>
                      </a:r>
                      <a:endParaRPr lang="en-US" sz="12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6C5D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3F1FB"/>
                    </a:solidFill>
                  </a:tcPr>
                </a:tc>
              </a:tr>
            </a:tbl>
          </a:graphicData>
        </a:graphic>
      </p:graphicFrame>
      <p:sp>
        <p:nvSpPr>
          <p:cNvPr id="4" name="Icon tile MdTune"/>
          <p:cNvSpPr/>
          <p:nvPr/>
        </p:nvSpPr>
        <p:spPr>
          <a:xfrm>
            <a:off x="6126480" y="105156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Tune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17006" y="1142086"/>
            <a:ext cx="230429" cy="230429"/>
          </a:xfrm>
          <a:prstGeom prst="rect">
            <a:avLst/>
          </a:prstGeom>
        </p:spPr>
      </p:pic>
      <p:sp>
        <p:nvSpPr>
          <p:cNvPr id="6" name="Text 2"/>
          <p:cNvSpPr txBox="1"/>
          <p:nvPr/>
        </p:nvSpPr>
        <p:spPr>
          <a:xfrm>
            <a:off x="6675120" y="1033272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Filters apply as you change them; Clear filters resets</a:t>
            </a:r>
            <a:endParaRPr lang="en-US" sz="1300" dirty="0"/>
          </a:p>
        </p:txBody>
      </p:sp>
      <p:sp>
        <p:nvSpPr>
          <p:cNvPr id="7" name="Icon tile MdSwapVert"/>
          <p:cNvSpPr/>
          <p:nvPr/>
        </p:nvSpPr>
        <p:spPr>
          <a:xfrm>
            <a:off x="6126480" y="2075688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8" name="Image 1" descr="SwapVert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17006" y="2166214"/>
            <a:ext cx="230429" cy="230429"/>
          </a:xfrm>
          <a:prstGeom prst="rect">
            <a:avLst/>
          </a:prstGeom>
        </p:spPr>
      </p:pic>
      <p:sp>
        <p:nvSpPr>
          <p:cNvPr id="9" name="Text 4"/>
          <p:cNvSpPr txBox="1"/>
          <p:nvPr/>
        </p:nvSpPr>
        <p:spPr>
          <a:xfrm>
            <a:off x="6675120" y="2057400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Click a sortable header to sort; click again to reverse</a:t>
            </a:r>
            <a:endParaRPr lang="en-US" sz="1300" dirty="0"/>
          </a:p>
        </p:txBody>
      </p:sp>
      <p:sp>
        <p:nvSpPr>
          <p:cNvPr id="10" name="Icon tile MdDownload"/>
          <p:cNvSpPr/>
          <p:nvPr/>
        </p:nvSpPr>
        <p:spPr>
          <a:xfrm>
            <a:off x="6126480" y="3099816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1" name="Image 2" descr="Download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006" y="3190342"/>
            <a:ext cx="230429" cy="230429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6675120" y="3081528"/>
            <a:ext cx="20116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chemeClr val="tx1"/>
                </a:solidFill>
              </a:rPr>
              <a:t>Download CSV keeps your filters and sort, adds more columns, and is audited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Administration: accounts, permissions and audit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4" name="Icon tile MdManageAccounts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ManageAccounts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Users and roles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New account: role and optional staff record. The temporary password shows once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Reset password, Suspend / Reactivate, Change role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You can't change your own role, suspend yourself or remove the last Administrator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324612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9" name="Icon tile MdSecurity"/>
          <p:cNvSpPr/>
          <p:nvPr/>
        </p:nvSpPr>
        <p:spPr>
          <a:xfrm>
            <a:off x="342900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0" name="Image 1" descr="Security ico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19526" y="1324966"/>
            <a:ext cx="230429" cy="230429"/>
          </a:xfrm>
          <a:prstGeom prst="rect">
            <a:avLst/>
          </a:prstGeom>
        </p:spPr>
      </p:pic>
      <p:sp>
        <p:nvSpPr>
          <p:cNvPr id="11" name="Text 7"/>
          <p:cNvSpPr txBox="1"/>
          <p:nvPr/>
        </p:nvSpPr>
        <p:spPr>
          <a:xfrm>
            <a:off x="397764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Roles &amp; permissions</a:t>
            </a:r>
            <a:endParaRPr lang="en-US" sz="1600" dirty="0"/>
          </a:p>
        </p:txBody>
      </p:sp>
      <p:sp>
        <p:nvSpPr>
          <p:cNvPr id="12" name="Text 8"/>
          <p:cNvSpPr txBox="1"/>
          <p:nvPr/>
        </p:nvSpPr>
        <p:spPr>
          <a:xfrm>
            <a:off x="342900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Tick what Managers and Staff may view, add, edit or delete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Save changes asks to confirm; Undo changes and Reset to defaults are there too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Changes apply from the person's next action</a:t>
            </a:r>
            <a:endParaRPr lang="en-US" sz="1300" dirty="0"/>
          </a:p>
        </p:txBody>
      </p:sp>
      <p:sp>
        <p:nvSpPr>
          <p:cNvPr id="13" name="Card"/>
          <p:cNvSpPr/>
          <p:nvPr/>
        </p:nvSpPr>
        <p:spPr>
          <a:xfrm>
            <a:off x="6035040" y="1051560"/>
            <a:ext cx="2651760" cy="3520440"/>
          </a:xfrm>
          <a:prstGeom prst="roundRect">
            <a:avLst>
              <a:gd name="adj" fmla="val 2759"/>
            </a:avLst>
          </a:prstGeom>
          <a:solidFill>
            <a:schemeClr val="bg2"/>
          </a:solidFill>
          <a:ln/>
        </p:spPr>
      </p:sp>
      <p:sp>
        <p:nvSpPr>
          <p:cNvPr id="14" name="Icon tile MdHistory"/>
          <p:cNvSpPr/>
          <p:nvPr/>
        </p:nvSpPr>
        <p:spPr>
          <a:xfrm>
            <a:off x="621792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15" name="Image 2" descr="History ico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8446" y="1324966"/>
            <a:ext cx="230429" cy="230429"/>
          </a:xfrm>
          <a:prstGeom prst="rect">
            <a:avLst/>
          </a:prstGeom>
        </p:spPr>
      </p:pic>
      <p:sp>
        <p:nvSpPr>
          <p:cNvPr id="16" name="Text 11"/>
          <p:cNvSpPr txBox="1"/>
          <p:nvPr/>
        </p:nvSpPr>
        <p:spPr>
          <a:xfrm>
            <a:off x="6766560" y="1234440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Audit log</a:t>
            </a:r>
            <a:endParaRPr lang="en-US" sz="1600" dirty="0"/>
          </a:p>
        </p:txBody>
      </p:sp>
      <p:sp>
        <p:nvSpPr>
          <p:cNvPr id="17" name="Text 12"/>
          <p:cNvSpPr txBox="1"/>
          <p:nvPr/>
        </p:nvSpPr>
        <p:spPr>
          <a:xfrm>
            <a:off x="6217920" y="1783080"/>
            <a:ext cx="22860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Every recorded change, newest first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Filter by action, dates or record ID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Click a name or record ID to narrow the list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Details shows before and after values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828800"/>
            <a:ext cx="8046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3600" b="1" dirty="0">
                <a:solidFill>
                  <a:schemeClr val="bg1"/>
                </a:solidFill>
              </a:rPr>
              <a:t>Reference</a:t>
            </a:r>
            <a:endParaRPr lang="en-US" sz="36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7432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dirty="0">
                <a:solidFill>
                  <a:schemeClr val="accent2"/>
                </a:solidFill>
              </a:rPr>
              <a:t>Limits, gaps and getting help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0916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Limits worth knowing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59436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10 MB</a:t>
            </a:r>
            <a:endParaRPr lang="en-US" sz="36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per uploaded file (JPEG, PNG or PDF)</a:t>
            </a:r>
            <a:endParaRPr lang="en-US" sz="1200" dirty="0"/>
          </a:p>
        </p:txBody>
      </p:sp>
      <p:sp>
        <p:nvSpPr>
          <p:cNvPr id="6" name="Card"/>
          <p:cNvSpPr/>
          <p:nvPr/>
        </p:nvSpPr>
        <p:spPr>
          <a:xfrm>
            <a:off x="256032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269748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4,000</a:t>
            </a:r>
            <a:endParaRPr lang="en-US" sz="3600" dirty="0"/>
          </a:p>
        </p:txBody>
      </p:sp>
      <p:sp>
        <p:nvSpPr>
          <p:cNvPr id="8" name="Text 6"/>
          <p:cNvSpPr txBox="1"/>
          <p:nvPr/>
        </p:nvSpPr>
        <p:spPr>
          <a:xfrm>
            <a:off x="269748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characters per chat message</a:t>
            </a:r>
            <a:endParaRPr lang="en-US" sz="1200" dirty="0"/>
          </a:p>
        </p:txBody>
      </p:sp>
      <p:sp>
        <p:nvSpPr>
          <p:cNvPr id="9" name="Card"/>
          <p:cNvSpPr/>
          <p:nvPr/>
        </p:nvSpPr>
        <p:spPr>
          <a:xfrm>
            <a:off x="466344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80060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12+</a:t>
            </a:r>
            <a:endParaRPr lang="en-US" sz="3600" dirty="0"/>
          </a:p>
        </p:txBody>
      </p:sp>
      <p:sp>
        <p:nvSpPr>
          <p:cNvPr id="11" name="Text 9"/>
          <p:cNvSpPr txBox="1"/>
          <p:nvPr/>
        </p:nvSpPr>
        <p:spPr>
          <a:xfrm>
            <a:off x="480060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characters in a password</a:t>
            </a:r>
            <a:endParaRPr lang="en-US" sz="1200" dirty="0"/>
          </a:p>
        </p:txBody>
      </p:sp>
      <p:sp>
        <p:nvSpPr>
          <p:cNvPr id="12" name="Card"/>
          <p:cNvSpPr/>
          <p:nvPr/>
        </p:nvSpPr>
        <p:spPr>
          <a:xfrm>
            <a:off x="6766560" y="1051560"/>
            <a:ext cx="1920240" cy="1600200"/>
          </a:xfrm>
          <a:prstGeom prst="roundRect">
            <a:avLst>
              <a:gd name="adj" fmla="val 4571"/>
            </a:avLst>
          </a:prstGeom>
          <a:solidFill>
            <a:schemeClr val="bg2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903720" y="1188720"/>
            <a:ext cx="16459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600" b="1" dirty="0">
                <a:solidFill>
                  <a:schemeClr val="accent1"/>
                </a:solidFill>
              </a:rPr>
              <a:t>24 h</a:t>
            </a:r>
            <a:endParaRPr lang="en-US" sz="3600" dirty="0"/>
          </a:p>
        </p:txBody>
      </p:sp>
      <p:sp>
        <p:nvSpPr>
          <p:cNvPr id="14" name="Text 12"/>
          <p:cNvSpPr txBox="1"/>
          <p:nvPr/>
        </p:nvSpPr>
        <p:spPr>
          <a:xfrm>
            <a:off x="6903720" y="192024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00" dirty="0">
                <a:solidFill>
                  <a:schemeClr val="accent6"/>
                </a:solidFill>
              </a:rPr>
              <a:t>most time in one work log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457200" y="2880360"/>
            <a:ext cx="82296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Text fields: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leave reasons 1,000 characters, work-log notes 2,000, task descriptions 5,000, report details up to 10,000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Announcements: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title 200 characters, text 10,000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Lists: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at most 100 rows per page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chemeClr val="tx1"/>
                </a:solidFill>
              </a:rPr>
              <a:t>Permissions: </a:t>
            </a:r>
            <a:pPr indent="0" marL="0">
              <a:spcAft>
                <a:spcPts val="600"/>
              </a:spcAft>
              <a:buNone/>
            </a:pPr>
            <a:r>
              <a:rPr lang="en-US" sz="1400" dirty="0">
                <a:solidFill>
                  <a:schemeClr val="tx1"/>
                </a:solidFill>
              </a:rPr>
              <a:t>buttons only appear when you're allowed to use them, and the server always has the final say</a:t>
            </a: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457200" y="274320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2"/>
                </a:solidFill>
              </a:rPr>
              <a:t>Not available yet, and quick answers</a:t>
            </a:r>
            <a:endParaRPr lang="en-US" sz="2800" dirty="0"/>
          </a:p>
        </p:txBody>
      </p:sp>
      <p:sp>
        <p:nvSpPr>
          <p:cNvPr id="3" name="Card"/>
          <p:cNvSpPr/>
          <p:nvPr/>
        </p:nvSpPr>
        <p:spPr>
          <a:xfrm>
            <a:off x="45720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4" name="Icon tile MdBlock"/>
          <p:cNvSpPr/>
          <p:nvPr/>
        </p:nvSpPr>
        <p:spPr>
          <a:xfrm>
            <a:off x="640080" y="1234440"/>
            <a:ext cx="411480" cy="411480"/>
          </a:xfrm>
          <a:prstGeom prst="roundRect">
            <a:avLst>
              <a:gd name="adj" fmla="val 22222"/>
            </a:avLst>
          </a:prstGeom>
          <a:solidFill>
            <a:schemeClr val="accent2"/>
          </a:solidFill>
          <a:ln/>
        </p:spPr>
      </p:sp>
      <p:pic>
        <p:nvPicPr>
          <p:cNvPr id="5" name="Image 0" descr="Block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0606" y="1324966"/>
            <a:ext cx="230429" cy="230429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88720" y="1234440"/>
            <a:ext cx="31089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Not available yet</a:t>
            </a:r>
            <a:endParaRPr lang="en-US" sz="1600" dirty="0"/>
          </a:p>
        </p:txBody>
      </p:sp>
      <p:sp>
        <p:nvSpPr>
          <p:cNvPr id="7" name="Text 4"/>
          <p:cNvSpPr txBox="1"/>
          <p:nvPr/>
        </p:nvSpPr>
        <p:spPr>
          <a:xfrm>
            <a:off x="640080" y="178308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Self-service password reset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Push or email notifications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full offline mode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Checking in from the web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Starting group chats on the web</a:t>
            </a:r>
            <a:endParaRPr lang="en-US" sz="1300" dirty="0"/>
          </a:p>
          <a:p>
            <a:pPr marL="177800" indent="-177800">
              <a:spcAft>
                <a:spcPts val="400"/>
              </a:spcAft>
              <a:buSzPct val="100000"/>
              <a:buChar char="•"/>
            </a:pPr>
            <a:r>
              <a:rPr lang="en-US" sz="1300" dirty="0">
                <a:solidFill>
                  <a:schemeClr val="tx1"/>
                </a:solidFill>
              </a:rPr>
              <a:t>A calendar view of the Backoffice schedule</a:t>
            </a:r>
            <a:endParaRPr lang="en-US" sz="1300" dirty="0"/>
          </a:p>
        </p:txBody>
      </p:sp>
      <p:sp>
        <p:nvSpPr>
          <p:cNvPr id="8" name="Card"/>
          <p:cNvSpPr/>
          <p:nvPr/>
        </p:nvSpPr>
        <p:spPr>
          <a:xfrm>
            <a:off x="4663440" y="1051560"/>
            <a:ext cx="4023360" cy="3520440"/>
          </a:xfrm>
          <a:prstGeom prst="roundRect">
            <a:avLst>
              <a:gd name="adj" fmla="val 2078"/>
            </a:avLst>
          </a:prstGeom>
          <a:solidFill>
            <a:schemeClr val="bg2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4846320" y="118872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600" b="1" dirty="0">
                <a:solidFill>
                  <a:schemeClr val="tx2"/>
                </a:solidFill>
              </a:rPr>
              <a:t>Quick answers</a:t>
            </a:r>
            <a:endParaRPr lang="en-US" sz="1600" dirty="0"/>
          </a:p>
        </p:txBody>
      </p:sp>
      <p:sp>
        <p:nvSpPr>
          <p:cNvPr id="10" name="Text 7"/>
          <p:cNvSpPr txBox="1"/>
          <p:nvPr/>
        </p:nvSpPr>
        <p:spPr>
          <a:xfrm>
            <a:off x="4846320" y="1600200"/>
            <a:ext cx="3657600" cy="2926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"No staff profile is linked":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ask an Administrator to link your account to a staff record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"You can't open this page":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your role doesn't include it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"This page has expired":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select Continue and try again</a:t>
            </a:r>
            <a:endParaRPr lang="en-US" sz="1300" dirty="0"/>
          </a:p>
          <a:p>
            <a:pPr indent="0" marL="0">
              <a:spcAft>
                <a:spcPts val="800"/>
              </a:spcAft>
              <a:buNone/>
            </a:pPr>
            <a:r>
              <a:rPr lang="en-US" sz="1300" b="1" dirty="0">
                <a:solidFill>
                  <a:schemeClr val="tx1"/>
                </a:solidFill>
              </a:rPr>
              <a:t>Signed out unexpectedly: </a:t>
            </a:r>
            <a:pPr indent="0" marL="0">
              <a:spcAft>
                <a:spcPts val="800"/>
              </a:spcAft>
              <a:buNone/>
            </a:pPr>
            <a:r>
              <a:rPr lang="en-US" sz="1300" dirty="0">
                <a:solidFill>
                  <a:schemeClr val="tx1"/>
                </a:solidFill>
              </a:rPr>
              <a:t>your password changed, your account was suspended, or you were idle</a:t>
            </a:r>
            <a:endParaRPr lang="en-US" sz="13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229600" y="4754880"/>
            <a:ext cx="457200" cy="2286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chemeClr val="accent6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1417320"/>
            <a:ext cx="566928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l" indent="0" marL="0">
              <a:buNone/>
            </a:pPr>
            <a:r>
              <a:rPr lang="en-US" sz="4000" b="1" dirty="0">
                <a:solidFill>
                  <a:schemeClr val="bg1"/>
                </a:solidFill>
              </a:rPr>
              <a:t>Need help?</a:t>
            </a:r>
            <a:endParaRPr lang="en-US" sz="4000" dirty="0"/>
          </a:p>
        </p:txBody>
      </p:sp>
      <p:sp>
        <p:nvSpPr>
          <p:cNvPr id="3" name="Text 0"/>
          <p:cNvSpPr/>
          <p:nvPr>
            <p:ph idx="101" type="body" hasCustomPrompt="1"/>
          </p:nvPr>
        </p:nvSpPr>
        <p:spPr>
          <a:xfrm>
            <a:off x="548640" y="2834640"/>
            <a:ext cx="56692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800" dirty="0">
                <a:solidFill>
                  <a:schemeClr val="accent2"/>
                </a:solidFill>
              </a:rPr>
              <a:t>Contact your Company App Administrator for new accounts, password resets, permissions and anything this manual doesn't cover.</a:t>
            </a:r>
            <a:endParaRPr lang="en-US" sz="1800" dirty="0"/>
          </a:p>
        </p:txBody>
      </p:sp>
      <p:sp>
        <p:nvSpPr>
          <p:cNvPr id="4" name="Icon tile MdSupportAgent"/>
          <p:cNvSpPr/>
          <p:nvPr/>
        </p:nvSpPr>
        <p:spPr>
          <a:xfrm>
            <a:off x="6949440" y="1737360"/>
            <a:ext cx="1371600" cy="1371600"/>
          </a:xfrm>
          <a:prstGeom prst="roundRect">
            <a:avLst>
              <a:gd name="adj" fmla="val 6667"/>
            </a:avLst>
          </a:prstGeom>
          <a:solidFill>
            <a:schemeClr val="accent1"/>
          </a:solidFill>
          <a:ln/>
        </p:spPr>
      </p:sp>
      <p:pic>
        <p:nvPicPr>
          <p:cNvPr id="5" name="Image 0" descr="SupportAgent ico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251192" y="2039112"/>
            <a:ext cx="768096" cy="768096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Company App">
  <a:themeElements>
    <a:clrScheme name="Company App">
      <a:dk1>
        <a:srgbClr val="1B1B21"/>
      </a:dk1>
      <a:lt1>
        <a:srgbClr val="FFFFFF"/>
      </a:lt1>
      <a:dk2>
        <a:srgbClr val="1E2257"/>
      </a:dk2>
      <a:lt2>
        <a:srgbClr val="F3F1FB"/>
      </a:lt2>
      <a:accent1>
        <a:srgbClr val="4355B9"/>
      </a:accent1>
      <a:accent2>
        <a:srgbClr val="DEE0FF"/>
      </a:accent2>
      <a:accent3>
        <a:srgbClr val="1D6B3A"/>
      </a:accent3>
      <a:accent4>
        <a:srgbClr val="7A5900"/>
      </a:accent4>
      <a:accent5>
        <a:srgbClr val="BA1A1A"/>
      </a:accent5>
      <a:accent6>
        <a:srgbClr val="46464F"/>
      </a:accent6>
      <a:hlink>
        <a:srgbClr val="4355B9"/>
      </a:hlink>
      <a:folHlink>
        <a:srgbClr val="3A4CAF"/>
      </a:folHlink>
    </a:clrScheme>
    <a:fontScheme name="Company App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Company App User Manual</dc:title>
  <dc:subject>User manual for the staff portal and Admin Backoffice</dc:subject>
  <dc:creator>Company App</dc:creator>
  <cp:lastModifiedBy>Company App</cp:lastModifiedBy>
  <cp:revision>1</cp:revision>
  <dcterms:created xsi:type="dcterms:W3CDTF">2026-10-17T10:26:55Z</dcterms:created>
  <dcterms:modified xsi:type="dcterms:W3CDTF">2026-10-17T10:26:55Z</dcterms:modified>
</cp:coreProperties>
</file>